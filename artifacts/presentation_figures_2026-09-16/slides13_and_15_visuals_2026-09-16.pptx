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6eb5cd93314884" /><Relationship Type="http://schemas.openxmlformats.org/officeDocument/2006/relationships/extended-properties" Target="/docProps/app.xml" Id="Ree1010157ec448d7" /><Relationship Type="http://schemas.openxmlformats.org/officeDocument/2006/relationships/officeDocument" Target="/ppt/presentation.xml" Id="R77405dfe8ad8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38c713fed4419c"/>
  </p:sldMasterIdLst>
  <p:notesMasterIdLst>
    <p:notesMasterId xmlns:r="http://schemas.openxmlformats.org/officeDocument/2006/relationships" r:id="Ra29b848868e24b91"/>
  </p:notesMasterIdLst>
  <p:sldIdLst>
    <p:sldId xmlns:r="http://schemas.openxmlformats.org/officeDocument/2006/relationships" id="256" r:id="R6602fcd5b9e14f18"/>
    <p:sldId xmlns:r="http://schemas.openxmlformats.org/officeDocument/2006/relationships" id="257" r:id="R05ed000df7f249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f8138526504260" /><Relationship Type="http://schemas.openxmlformats.org/officeDocument/2006/relationships/slideMaster" Target="/ppt/slideMasters/slideMaster1.xml" Id="R5438c713fed4419c" /><Relationship Type="http://schemas.openxmlformats.org/officeDocument/2006/relationships/notesMaster" Target="/ppt/notesMasters/notesMaster1.xml" Id="Ra29b848868e24b91" /><Relationship Type="http://schemas.openxmlformats.org/officeDocument/2006/relationships/presProps" Target="/ppt/presProps.xml" Id="R60afed7d8d8248ff" /><Relationship Type="http://schemas.openxmlformats.org/officeDocument/2006/relationships/tableStyles" Target="/ppt/tableStyles.xml" Id="R6e17fe47da8e471d" /><Relationship Type="http://schemas.openxmlformats.org/officeDocument/2006/relationships/slide" Target="/ppt/slides/slide1.xml" Id="R6602fcd5b9e14f18" /><Relationship Type="http://schemas.openxmlformats.org/officeDocument/2006/relationships/slide" Target="/ppt/slides/slide2.xml" Id="R05ed000df7f2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bf21e912d44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2dd5ad7534f73" /><Relationship Type="http://schemas.openxmlformats.org/officeDocument/2006/relationships/notesMaster" Target="/ppt/notesMasters/notesMaster1.xml" Id="R9e513bde38c042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bd438831204800" /><Relationship Type="http://schemas.openxmlformats.org/officeDocument/2006/relationships/notesMaster" Target="/ppt/notesMasters/notesMaster1.xml" Id="R742ebc51e219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13. Формулы и определения восстановлены из evaluator проекта. Gold имеет статус авторского кандидата и ожидает независимой экспертной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15. Источник: сохранённые live-прогоны benchmark size_scaling_v1. E2E: one-shot 9/20, FULL 19/20. Один запуск на проект; смысловые выводы предварительны до экспертной проверки 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d603d8855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4c72bcf733400b" /><Relationship Type="http://schemas.openxmlformats.org/officeDocument/2006/relationships/slideLayout" Target="/ppt/slideLayouts/slideLayout1.xml" Id="Rcfd5b9c49a464c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5b9c49a46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b5bbcf1444d9d" /><Relationship Type="http://schemas.openxmlformats.org/officeDocument/2006/relationships/notesSlide" Target="/ppt/notesSlides/notesSlide1.xml" Id="R97cf1c9356f5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e6ab9f267430e" /><Relationship Type="http://schemas.openxmlformats.org/officeDocument/2006/relationships/chart" Target="/ppt/slides/charts/chart1.xml" Id="Rbe8e314739e34a49" /><Relationship Type="http://schemas.openxmlformats.org/officeDocument/2006/relationships/notesSlide" Target="/ppt/notesSlides/notesSlide2.xml" Id="R9261bde689f540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Один вызов LLM</c:v>
          </c:tx>
          <c:spPr>
            <a:solidFill xmlns:a="http://schemas.openxmlformats.org/drawingml/2006/main">
              <a:srgbClr val="1677C8"/>
            </a:solidFill>
          </c:spPr>
          <c:cat>
            <c:strRef>
              <c:f>'Chart Data'!$A$2:$A$5</c:f>
              <c:strCache>
                <c:ptCount val="4"/>
                <c:pt idx="0">
                  <c:v>6–10 ФТ</c:v>
                </c:pt>
                <c:pt idx="1">
                  <c:v>12–19 ФТ</c:v>
                </c:pt>
                <c:pt idx="2">
                  <c:v>24–48 ФТ</c:v>
                </c:pt>
                <c:pt idx="3">
                  <c:v>54–74 ФТ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100</c:v>
                </c:pt>
                <c:pt idx="1">
                  <c:v>80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v>Полный граф</c:v>
          </c:tx>
          <c:spPr>
            <a:solidFill xmlns:a="http://schemas.openxmlformats.org/drawingml/2006/main">
              <a:srgbClr val="F06400"/>
            </a:solidFill>
          </c:spPr>
          <c:cat>
            <c:strRef>
              <c:f>'Chart Data'!$C$2:$C$5</c:f>
              <c:strCache>
                <c:ptCount val="4"/>
                <c:pt idx="0">
                  <c:v>6–10 ФТ</c:v>
                </c:pt>
                <c:pt idx="1">
                  <c:v>12–19 ФТ</c:v>
                </c:pt>
                <c:pt idx="2">
                  <c:v>24–48 ФТ</c:v>
                </c:pt>
                <c:pt idx="3">
                  <c:v>54–74 ФТ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0852CF-72E4-4E50-846F-95388BB0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Метрики качества и принимаемости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F6904-C0B7-484B-887E-8C497E3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Evaluator сопоставляет результат с эталоном и отдельно проверяет структуру, трассировку и стоимость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593D3-0AAB-4FE6-81FB-95EFEBFC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19050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Gold-разметка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FEB7A-F3D5-475E-964C-5AE8BD89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F06400"/>
            </a:solidFill>
          </a:ln>
        </p:spPr>
        <p:txBody>
          <a:bodyPr xmlns:a="http://schemas.openxmlformats.org/drawingml/2006/main" anchor="ctr">
            <a:normAutofit fontScale="80435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Результат системы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B2021-656D-4661-BA22-C2E1AA27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сопоставление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91DCA-78E0-4C1C-AEE1-4E5F96E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38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формальные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66702-C50D-4C36-85E7-2F05B679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335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1C8B4-7812-46A5-895E-A84D0B5D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40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1BD24-25A2-4236-BAE7-B3670EBD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Evaluator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96170-F9D7-4F82-8124-969E8752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81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C8"/>
                </a:solidFill>
                <a:latin typeface="Helvetica Neue"/>
                <a:ea typeface="Helvetica Neue"/>
                <a:cs typeface="Helvetica Neue"/>
              </a:rPr>
              <a:t>Precision = TP / (TP + FP)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BB86F-38B4-4AAB-BCCA-89B5A22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57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06400"/>
                </a:solidFill>
                <a:latin typeface="Helvetica Neue"/>
                <a:ea typeface="Helvetica Neue"/>
                <a:cs typeface="Helvetica Neue"/>
              </a:rPr>
              <a:t>Recall = TP / (TP + FN)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51A52-5519-4168-8D8D-315C6716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33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72"/>
                </a:solidFill>
                <a:latin typeface="Helvetica Neue"/>
                <a:ea typeface="Helvetica Neue"/>
                <a:cs typeface="Helvetica Neue"/>
              </a:rPr>
              <a:t>F1 = 2 × Precision × Recall / (Precision + Recall)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7CAFC-0769-413F-B52E-0A581C9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98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4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TP: совпало с Gold    FP: добавлено без подтверждения    FN: пропущено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92BB5-2874-40B5-B166-2E65BBC9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0C39A-8EB3-41D8-BEBF-D8501AAB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20726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7C8"/>
                </a:solidFill>
                <a:latin typeface="Helvetica Neue"/>
                <a:ea typeface="Helvetica Neue"/>
                <a:cs typeface="Helvetica Neue"/>
              </a:rPr>
              <a:t>Use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80DA5-6B3A-44E5-B4FB-789BE28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2072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C81FB-D7DC-4E83-A1A9-AF2095A9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20726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Actor F1 · UC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8BBBE-FF53-4B2A-BF6C-D4028D92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0726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верные участники и границы процессов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AF4DF-C7AC-452F-AE83-7034838E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3667125"/>
            <a:ext cx="20726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06400"/>
                </a:solidFill>
                <a:latin typeface="Helvetica Neue"/>
                <a:ea typeface="Helvetica Neue"/>
                <a:cs typeface="Helvetica Neue"/>
              </a:rPr>
              <a:t>Сценарии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61AC7-83BE-4BE6-B2DC-CF542764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4048125"/>
            <a:ext cx="2072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640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D5CA5-9D2B-4706-A145-C7318DD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4210050"/>
            <a:ext cx="20726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Milestone F1 · Branch 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08C25-E741-4067-87D5-77A92BA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4810125"/>
            <a:ext cx="20726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этапы, альтернативные и ошибочные пути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D6800-A08F-422D-9A1D-DB53721B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667125"/>
            <a:ext cx="20726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9B72"/>
                </a:solidFill>
                <a:latin typeface="Helvetica Neue"/>
                <a:ea typeface="Helvetica Neue"/>
                <a:cs typeface="Helvetica Neue"/>
              </a:rPr>
              <a:t>Трассировка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E8F99-F0B4-4BFF-9F2A-53152DF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048125"/>
            <a:ext cx="2072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B7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29A7C-FC22-4549-B8B9-E69C7CBD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210050"/>
            <a:ext cx="20726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Trace F1 · Coverage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BDA3C-9F63-4B10-B341-D03B45A0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810125"/>
            <a:ext cx="20726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связи ФТ, шагов и Activity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21FFA-4931-4922-9E70-A8CB8B1D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3667125"/>
            <a:ext cx="20726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C5A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C5AA8"/>
                </a:solidFill>
                <a:latin typeface="Helvetica Neue"/>
                <a:ea typeface="Helvetica Neue"/>
                <a:cs typeface="Helvetica Neue"/>
              </a:rPr>
              <a:t>Принимаемость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D5B03-6CAC-4751-84D0-21DB97EF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4048125"/>
            <a:ext cx="2072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5AA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50ACE-5EEE-4D92-9D59-3027211D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4210050"/>
            <a:ext cx="20726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Activity validity · E2E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501A2-34B4-47CB-B166-E642E8E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4810125"/>
            <a:ext cx="20726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полный комплект прошёл проверки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A9DE91-E072-488B-8ACE-C208396F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3667125"/>
            <a:ext cx="20726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B87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B8794"/>
                </a:solidFill>
                <a:latin typeface="Helvetica Neue"/>
                <a:ea typeface="Helvetica Neue"/>
                <a:cs typeface="Helvetica Neue"/>
              </a:rPr>
              <a:t>Ресурсы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45C09-017E-4254-891E-6F6659BB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4048125"/>
            <a:ext cx="2072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879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F5CFAE-4885-4D72-B38B-F6377EC4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4210050"/>
            <a:ext cx="20726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Время · токены · стоимость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7D0AB7-413C-4498-9D4F-D8945B49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4810125"/>
            <a:ext cx="20726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цена получения результата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1AEC5E-AD24-4766-A72F-A36F720F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Метрики показываются отдельно: агрегированный смысловой балл не используется в основном выводе</a:t>
            </a:r>
          </a:p>
        </p:txBody>
      </p:sp>
    </p:spTree>
    <p:extLst>
      <p:ext uri="{BB962C8B-B14F-4D97-AF65-F5344CB8AC3E}">
        <p14:creationId xmlns:p14="http://schemas.microsoft.com/office/powerpoint/2010/main" val="188845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DC583-3572-44B0-8707-A7D60B0F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Устойчивость при росте числа требований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1FFF4-B2C6-4068-8888-5463727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20 проектов руководителя · 4 группы · 6–74 ФТ · DeepSeek deepseek-flash · 1 запуск на проект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810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8e314739e34a4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BBABD-D4CA-4EE2-B361-7DFAAA16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28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D8DB7-056F-45D5-AF51-2CE4D800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76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Общий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B15BF-2B7B-4924-AA61-3B964F69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288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7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77C8"/>
                </a:solidFill>
                <a:latin typeface="Helvetica Neue"/>
                <a:ea typeface="Helvetica Neue"/>
                <a:cs typeface="Helvetica Neue"/>
              </a:rPr>
              <a:t>9/20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AA1DC-9B50-4023-BE30-D3C398B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76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один вызов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57CFD-2B27-472C-B60D-E9C79515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06400"/>
                </a:solidFill>
                <a:latin typeface="Helvetica Neue"/>
                <a:ea typeface="Helvetica Neue"/>
                <a:cs typeface="Helvetica Neue"/>
              </a:rPr>
              <a:t>19/20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8A77D-B3B0-4DE8-B142-8E523720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95575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полный граф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C7F8E-04E2-4F48-9A3D-5923CCD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Парный эффект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1DA9D-CC5E-4D48-834F-7181B64C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9B72"/>
                </a:solidFill>
                <a:latin typeface="Helvetica Neue"/>
                <a:ea typeface="Helvetica Neue"/>
                <a:cs typeface="Helvetica Neue"/>
              </a:rPr>
              <a:t>+50 п.п.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D6407-A335-4CC0-95DD-10B96518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95% ДИ: +30…+70 п.п.</a:t>
            </a:r>
          </a:p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 = 0,001953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0769C-7FE4-426F-B41A-A9BDF69A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91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2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23B3B"/>
                </a:solidFill>
                <a:latin typeface="Helvetica Neue"/>
                <a:ea typeface="Helvetica Neue"/>
                <a:cs typeface="Helvetica Neue"/>
              </a:rPr>
              <a:t>Ограничение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345A9-F7A0-4277-8CA6-F904DB2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Один запуск на проект; Gold-кандидат ожидает проверки двумя экспертами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0C999-6536-4778-83FA-2CD36350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При увеличении входа прямой вызов теряет E2E-завершаемость; полный граф сохранил 19 из 20 принимаемых комплектов</a:t>
            </a:r>
          </a:p>
        </p:txBody>
      </p:sp>
    </p:spTree>
    <p:extLst>
      <p:ext uri="{BB962C8B-B14F-4D97-AF65-F5344CB8AC3E}">
        <p14:creationId xmlns:p14="http://schemas.microsoft.com/office/powerpoint/2010/main" val="2123141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2026-09-16T05:30:09.9320000Z</dcterms:created>
  <dcterms:modified xsi:type="dcterms:W3CDTF">2026-09-16T05:30:09.9320000Z</dcterms:modified>
</coreProperties>
</file>