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865d2efc61473b" /><Relationship Type="http://schemas.openxmlformats.org/officeDocument/2006/relationships/extended-properties" Target="/docProps/app.xml" Id="R70ab556e00384c03" /><Relationship Type="http://schemas.openxmlformats.org/officeDocument/2006/relationships/officeDocument" Target="/ppt/presentation.xml" Id="R87f86c28e5e6439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31aaf17e5ef4587"/>
  </p:sldMasterIdLst>
  <p:notesMasterIdLst>
    <p:notesMasterId xmlns:r="http://schemas.openxmlformats.org/officeDocument/2006/relationships" r:id="Ra22d9023a49d406e"/>
  </p:notesMasterIdLst>
  <p:sldIdLst>
    <p:sldId xmlns:r="http://schemas.openxmlformats.org/officeDocument/2006/relationships" id="256" r:id="R87d3d7ea01394ea1"/>
    <p:sldId xmlns:r="http://schemas.openxmlformats.org/officeDocument/2006/relationships" id="257" r:id="R2e14336ad13b44e8"/>
    <p:sldId xmlns:r="http://schemas.openxmlformats.org/officeDocument/2006/relationships" id="258" r:id="R32350f9584e542f2"/>
    <p:sldId xmlns:r="http://schemas.openxmlformats.org/officeDocument/2006/relationships" id="259" r:id="R414a911abfc64fb5"/>
    <p:sldId xmlns:r="http://schemas.openxmlformats.org/officeDocument/2006/relationships" id="260" r:id="R6d3ea023d8bb4cf6"/>
    <p:sldId xmlns:r="http://schemas.openxmlformats.org/officeDocument/2006/relationships" id="261" r:id="R919147a853964a7f"/>
    <p:sldId xmlns:r="http://schemas.openxmlformats.org/officeDocument/2006/relationships" id="262" r:id="Rc4709fa8702d450b"/>
    <p:sldId xmlns:r="http://schemas.openxmlformats.org/officeDocument/2006/relationships" id="263" r:id="R6d178dd4dc3a4e1c"/>
    <p:sldId xmlns:r="http://schemas.openxmlformats.org/officeDocument/2006/relationships" id="264" r:id="R2cf9720cf6204003"/>
    <p:sldId xmlns:r="http://schemas.openxmlformats.org/officeDocument/2006/relationships" id="265" r:id="Rb2afa7dbb1594d49"/>
    <p:sldId xmlns:r="http://schemas.openxmlformats.org/officeDocument/2006/relationships" id="266" r:id="R0fec1bdb72b04da0"/>
    <p:sldId xmlns:r="http://schemas.openxmlformats.org/officeDocument/2006/relationships" id="267" r:id="R688b5c08ece547a8"/>
    <p:sldId xmlns:r="http://schemas.openxmlformats.org/officeDocument/2006/relationships" id="268" r:id="Ra09f07616e6b4a99"/>
  </p:sldIdLst>
  <p:sldSz cx="12192000" cy="6858000"/>
  <p:notesSz cx="6858000" cy="9144000"/>
  <p:embeddedFontLst>
    <p:embeddedFont>
      <p:font typeface="Golos Text"/>
      <p:regular xmlns:r="http://schemas.openxmlformats.org/officeDocument/2006/relationships" r:id="Rc4bd8443ae914420"/>
      <p:bold xmlns:r="http://schemas.openxmlformats.org/officeDocument/2006/relationships" r:id="R1a2e9ff30b9f4018"/>
    </p:embeddedFont>
    <p:embeddedFont>
      <p:font typeface="Montserrat"/>
      <p:regular xmlns:r="http://schemas.openxmlformats.org/officeDocument/2006/relationships" r:id="R8806a941b8bd4c53"/>
      <p:bold xmlns:r="http://schemas.openxmlformats.org/officeDocument/2006/relationships" r:id="R58dc8b6ad7a5486c"/>
      <p:italic xmlns:r="http://schemas.openxmlformats.org/officeDocument/2006/relationships" r:id="R288aa063f55c4ed6"/>
      <p:boldItalic xmlns:r="http://schemas.openxmlformats.org/officeDocument/2006/relationships" r:id="R451daa68e2f04b34"/>
    </p:embeddedFont>
    <p:embeddedFont>
      <p:font typeface="Golos Text SemiBold"/>
      <p:regular xmlns:r="http://schemas.openxmlformats.org/officeDocument/2006/relationships" r:id="R19b08271790c4a81"/>
      <p:bold xmlns:r="http://schemas.openxmlformats.org/officeDocument/2006/relationships" r:id="Rbcd6b2c1373046c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9F326521-B79D-460C-ACCF-49D8F5FA4728}">
  <a:tblStyle styleId="{9F326521-B79D-460C-ACCF-49D8F5FA47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522e7a7e5c4560" /><Relationship Type="http://schemas.openxmlformats.org/officeDocument/2006/relationships/slideMaster" Target="/ppt/slideMasters/slideMaster1.xml" Id="Rd31aaf17e5ef4587" /><Relationship Type="http://schemas.openxmlformats.org/officeDocument/2006/relationships/notesMaster" Target="/ppt/notesMasters/notesMaster1.xml" Id="Ra22d9023a49d406e" /><Relationship Type="http://schemas.openxmlformats.org/officeDocument/2006/relationships/presProps" Target="/ppt/presProps.xml" Id="R6c5f4987299e400f" /><Relationship Type="http://schemas.openxmlformats.org/officeDocument/2006/relationships/tableStyles" Target="/ppt/tableStyles.xml" Id="R8377e6cfdfad4672" /><Relationship Type="http://schemas.openxmlformats.org/officeDocument/2006/relationships/font" Target="/ppt/fonts/font.dat" Id="Rc4bd8443ae914420" /><Relationship Type="http://schemas.openxmlformats.org/officeDocument/2006/relationships/font" Target="/ppt/fonts/font2.dat" Id="R1a2e9ff30b9f4018" /><Relationship Type="http://schemas.openxmlformats.org/officeDocument/2006/relationships/font" Target="/ppt/fonts/font3.dat" Id="R8806a941b8bd4c53" /><Relationship Type="http://schemas.openxmlformats.org/officeDocument/2006/relationships/font" Target="/ppt/fonts/font4.dat" Id="R58dc8b6ad7a5486c" /><Relationship Type="http://schemas.openxmlformats.org/officeDocument/2006/relationships/font" Target="/ppt/fonts/font5.dat" Id="R288aa063f55c4ed6" /><Relationship Type="http://schemas.openxmlformats.org/officeDocument/2006/relationships/font" Target="/ppt/fonts/font6.dat" Id="R451daa68e2f04b34" /><Relationship Type="http://schemas.openxmlformats.org/officeDocument/2006/relationships/font" Target="/ppt/fonts/font7.dat" Id="R19b08271790c4a81" /><Relationship Type="http://schemas.openxmlformats.org/officeDocument/2006/relationships/font" Target="/ppt/fonts/font8.dat" Id="Rbcd6b2c1373046cd" /><Relationship Type="http://schemas.openxmlformats.org/officeDocument/2006/relationships/slide" Target="/ppt/slides/slide1.xml" Id="R87d3d7ea01394ea1" /><Relationship Type="http://schemas.openxmlformats.org/officeDocument/2006/relationships/slide" Target="/ppt/slides/slide2.xml" Id="R2e14336ad13b44e8" /><Relationship Type="http://schemas.openxmlformats.org/officeDocument/2006/relationships/slide" Target="/ppt/slides/slide3.xml" Id="R32350f9584e542f2" /><Relationship Type="http://schemas.openxmlformats.org/officeDocument/2006/relationships/slide" Target="/ppt/slides/slide4.xml" Id="R414a911abfc64fb5" /><Relationship Type="http://schemas.openxmlformats.org/officeDocument/2006/relationships/slide" Target="/ppt/slides/slide5.xml" Id="R6d3ea023d8bb4cf6" /><Relationship Type="http://schemas.openxmlformats.org/officeDocument/2006/relationships/slide" Target="/ppt/slides/slide6.xml" Id="R919147a853964a7f" /><Relationship Type="http://schemas.openxmlformats.org/officeDocument/2006/relationships/slide" Target="/ppt/slides/slide7.xml" Id="Rc4709fa8702d450b" /><Relationship Type="http://schemas.openxmlformats.org/officeDocument/2006/relationships/slide" Target="/ppt/slides/slide8.xml" Id="R6d178dd4dc3a4e1c" /><Relationship Type="http://schemas.openxmlformats.org/officeDocument/2006/relationships/slide" Target="/ppt/slides/slide9.xml" Id="R2cf9720cf6204003" /><Relationship Type="http://schemas.openxmlformats.org/officeDocument/2006/relationships/slide" Target="/ppt/slides/slide10.xml" Id="Rb2afa7dbb1594d49" /><Relationship Type="http://schemas.openxmlformats.org/officeDocument/2006/relationships/slide" Target="/ppt/slides/slide11.xml" Id="R0fec1bdb72b04da0" /><Relationship Type="http://schemas.openxmlformats.org/officeDocument/2006/relationships/slide" Target="/ppt/slides/slide12.xml" Id="R688b5c08ece547a8" /><Relationship Type="http://schemas.openxmlformats.org/officeDocument/2006/relationships/slide" Target="/ppt/slides/slide13.xml" Id="Ra09f07616e6b4a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5b7054e2b142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cf1675a23e456b" /><Relationship Type="http://schemas.openxmlformats.org/officeDocument/2006/relationships/notesMaster" Target="/ppt/notesMasters/notesMaster1.xml" Id="R976ee82afba240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c69582be21424f" /><Relationship Type="http://schemas.openxmlformats.org/officeDocument/2006/relationships/notesMaster" Target="/ppt/notesMasters/notesMaster1.xml" Id="Rcdd5148c0eb242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60822ed5444457" /><Relationship Type="http://schemas.openxmlformats.org/officeDocument/2006/relationships/notesMaster" Target="/ppt/notesMasters/notesMaster1.xml" Id="R9fa88e72f19248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92cab821d04fef" /><Relationship Type="http://schemas.openxmlformats.org/officeDocument/2006/relationships/notesMaster" Target="/ppt/notesMasters/notesMaster1.xml" Id="R9d0ce993563c40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faec93385e4d0a" /><Relationship Type="http://schemas.openxmlformats.org/officeDocument/2006/relationships/notesMaster" Target="/ppt/notesMasters/notesMaster1.xml" Id="R012a08a199b947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b7313bb2be45dc" /><Relationship Type="http://schemas.openxmlformats.org/officeDocument/2006/relationships/notesMaster" Target="/ppt/notesMasters/notesMaster1.xml" Id="R04f29769e7a647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cc086d5d344fcb" /><Relationship Type="http://schemas.openxmlformats.org/officeDocument/2006/relationships/notesMaster" Target="/ppt/notesMasters/notesMaster1.xml" Id="R1171742689014f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ae683e92c3450a" /><Relationship Type="http://schemas.openxmlformats.org/officeDocument/2006/relationships/notesMaster" Target="/ppt/notesMasters/notesMaster1.xml" Id="R40e3a2855dd64e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a544b5a1c14a74" /><Relationship Type="http://schemas.openxmlformats.org/officeDocument/2006/relationships/notesMaster" Target="/ppt/notesMasters/notesMaster1.xml" Id="Rdda13176bd5942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b957ee16424c83" /><Relationship Type="http://schemas.openxmlformats.org/officeDocument/2006/relationships/notesMaster" Target="/ppt/notesMasters/notesMaster1.xml" Id="R406c41508a1944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d61820225f4acd" /><Relationship Type="http://schemas.openxmlformats.org/officeDocument/2006/relationships/notesMaster" Target="/ppt/notesMasters/notesMaster1.xml" Id="R5617bed12e7c44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2b051d638e4425" /><Relationship Type="http://schemas.openxmlformats.org/officeDocument/2006/relationships/notesMaster" Target="/ppt/notesMasters/notesMaster1.xml" Id="R86695192931d49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8dbd7d11474fa8" /><Relationship Type="http://schemas.openxmlformats.org/officeDocument/2006/relationships/notesMaster" Target="/ppt/notesMasters/notesMaster1.xml" Id="R26d22ed5a53b45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Назвать вход: SpecificationReq. Назвать результат: структурированные UC, stories, activity-диаграммы, трассировка и отчёт качества.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Начать доклад с прямого ответа комиссии. За 40–50 секунд назвать пять изменений: позиционирование, полный pipeline, трассировка, метрики и сравнение. Затем перейти к новой цели.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Цель сформулирована через конкретный артефакт. Для каждой задачи в репозитории есть код, документ или сохранённый эксперимент.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Baseline — это простой фиксированный ориентир. Один запрос B1 изолирует вклад самого графа: модель та же, но обратной связи и исправления нет. Pyreverse, GitDiagram и DeepWiki нельзя смешивать с прямыми F1, потому что у них другой вход.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https://pylint.readthedocs.io/en/latest/additional_tools/pyreverse.html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https://github.com/ahmedkhaleel2004/gitdiagram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https://github.com/AsyncFuncAI/deepwiki-open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Подчеркнуть разделение ответственности: LLM интерпретирует смысл, Python проверяет структуру и происхождение. Текущая live-модель — deepseek-flash.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https://docs.langchain.com/oss/python/langgraph/overview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https://api-docs.deepseek.com/quick_start/pricing/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Говорить о технологической новизне текущей реализации, не о мировой первизне. Литература 2026 подтверждает актуальность schema-constrained и поэтапной генерации.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https://conf.researchr.org/details/RE-2026/RE-2026-Research-Papers/25/From-Use-Cases-to-Sequence-Diagrams-Schema-Constrained-Generation-with-Large-Languag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https://conf.researchr.org/details/RE-2026/RE-2026-industrial-innovation-papers/4/Automated-Generation-of-SysML-Activity-Diagrams-from-Industrial-Requirements-Using-LL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Показать реальный PNG из сохранённого FULL-запуска. Отдельно назвать CLI, фиксированные зависимости, тесты, CI и безопасное хранение ключей.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 системе два агента. Generator, critic и repair — роли внутри них. Root Graph — оркестратор, а не третий агент. Он передаёт типизированное состояние и объединяет трассировку.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Один запрос B1 специально запрещает обратную связь. Так изолируется вклад оркестрации и повторного исправления. Для GPT и Claude подготовлены те же входы, schema и evaluator.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https://aclanthology.org/2025.gem-1.33/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Не объявлять победителя только по сводному баллу. Вариант без исправления имеет высокий автоматический балл, но не проходит E2E. FULL — лучший по содержанию среди прошедших E2E на этой диагностической тройке.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Это отрицательный результат, который привёл к инженерному исправлению. Мы не скрываем рост цены и не утверждаем статистическое превосходство на n=3.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Закончить прямым ответом: с прошлого раза появились чёткая постановка, полный pipeline, формальные метрики и сохранённое сравнение. Не перечислять внутренний backlog в устном выводе.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https://arxiv.org/abs/2607.26100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https://conf.researchr.org/details/RE-2026/RE-2026-industrial-innovation-papers/4/Automated-Generation-of-SysML-Activity-Diagrams-from-Industrial-Requirements-Using-LL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4d5ba8ca34e18" /><Relationship Type="http://schemas.openxmlformats.org/officeDocument/2006/relationships/image" Target="/ppt/media/image.jpeg" Id="R4aca62fe3f9d47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8596361b844f7c" /><Relationship Type="http://schemas.openxmlformats.org/officeDocument/2006/relationships/image" Target="/ppt/media/image2.jpeg" Id="Rbcfac24a2c8142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762ac55e64bd3" /><Relationship Type="http://schemas.openxmlformats.org/officeDocument/2006/relationships/image" Target="/ppt/media/image3.jpeg" Id="R8439bdf8e35f43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8007b9a164ab6" /><Relationship Type="http://schemas.openxmlformats.org/officeDocument/2006/relationships/image" Target="/ppt/media/image4.jpeg" Id="R2d33e7375b734219" /></Relationships>
</file>

<file path=ppt/slideLayouts/slideLayout1.xml><?xml version="1.0" encoding="utf-8"?>
<p:sldLayout xmlns:p="http://schemas.openxmlformats.org/presentationml/2006/main" matchingName="Титульный слайд" type="title">
  <p:cSld name="TITLE">
    <p:bg>
      <p:bgPr>
        <a:blipFill xmlns:a="http://schemas.openxmlformats.org/drawingml/2006/main">
          <a:blip xmlns:r="http://schemas.openxmlformats.org/officeDocument/2006/relationships" r:embed="R4aca62fe3f9d479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17">
            <a:extLst xmlns:a="http://schemas.openxmlformats.org/drawingml/2006/main">
              <a:ext uri="{FF2B5EF4-FFF2-40B4-BE49-F238E27FC236}">
                <a16:creationId xmlns:a16="http://schemas.microsoft.com/office/drawing/2014/main" id="{345ACC74-C7C5-4AD2-8149-2B382D10CDC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2490281"/>
            <a:ext cx="9144000" cy="1475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los Text SemiBold"/>
              <a:buNone/>
              <a:defRPr sz="24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17">
            <a:extLst xmlns:a="http://schemas.openxmlformats.org/drawingml/2006/main">
              <a:ext uri="{FF2B5EF4-FFF2-40B4-BE49-F238E27FC236}">
                <a16:creationId xmlns:a16="http://schemas.microsoft.com/office/drawing/2014/main" id="{41835541-464C-4C9D-B0B1-EE78D73122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805890" y="4175394"/>
            <a:ext cx="5871990" cy="227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8" name="Google Shape;18;p17">
            <a:extLst xmlns:a="http://schemas.openxmlformats.org/drawingml/2006/main">
              <a:ext uri="{FF2B5EF4-FFF2-40B4-BE49-F238E27FC236}">
                <a16:creationId xmlns:a16="http://schemas.microsoft.com/office/drawing/2014/main" id="{DEBB3987-BDB4-4F71-B63A-A13D5C5C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30868"/>
            <a:ext cx="9144000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olos Text"/>
              <a:buNone/>
            </a:pPr>
            <a:r>
              <a:rPr sz="1800" b="0" i="0" u="none" cap="none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  <a:t>01.04.02 </a:t>
            </a:r>
            <a:r>
              <a:rPr sz="1800" b="0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Прикладная математика и информатика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Пустой слайд">
  <p:cSld name="Пустой слайд">
    <p:bg>
      <p:bgPr>
        <a:blipFill xmlns:a="http://schemas.openxmlformats.org/drawingml/2006/main">
          <a:blip xmlns:r="http://schemas.openxmlformats.org/officeDocument/2006/relationships" r:embed="Rbcfac24a2c8142a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18">
            <a:extLst xmlns:a="http://schemas.openxmlformats.org/drawingml/2006/main">
              <a:ext uri="{FF2B5EF4-FFF2-40B4-BE49-F238E27FC236}">
                <a16:creationId xmlns:a16="http://schemas.microsoft.com/office/drawing/2014/main" id="{C1ACE1A8-1BC9-4491-A7DB-ADCBBFD4F3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1532" y="365126"/>
            <a:ext cx="9218579" cy="656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Google Shape;21;p18">
            <a:extLst xmlns:a="http://schemas.openxmlformats.org/drawingml/2006/main">
              <a:ext uri="{FF2B5EF4-FFF2-40B4-BE49-F238E27FC236}">
                <a16:creationId xmlns:a16="http://schemas.microsoft.com/office/drawing/2014/main" id="{F8EAF775-0336-4B49-8D03-BC81C8DAE1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21531" y="6356349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18">
            <a:extLst xmlns:a="http://schemas.openxmlformats.org/drawingml/2006/main">
              <a:ext uri="{FF2B5EF4-FFF2-40B4-BE49-F238E27FC236}">
                <a16:creationId xmlns:a16="http://schemas.microsoft.com/office/drawing/2014/main" id="{00872ABA-6029-476E-A2D5-1D99428FE4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18">
            <a:extLst xmlns:a="http://schemas.openxmlformats.org/drawingml/2006/main">
              <a:ext uri="{FF2B5EF4-FFF2-40B4-BE49-F238E27FC236}">
                <a16:creationId xmlns:a16="http://schemas.microsoft.com/office/drawing/2014/main" id="{26113490-03DD-4BC6-A102-9D49C14ABB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027269" y="635081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8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1pPr>
            <a:lvl2pPr marL="0" indent="0" algn="r">
              <a:spcBef>
                <a:spcPts val="0"/>
              </a:spcBef>
              <a:buNone/>
              <a:defRPr sz="18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2pPr>
            <a:lvl3pPr marL="0" indent="0" algn="r">
              <a:spcBef>
                <a:spcPts val="0"/>
              </a:spcBef>
              <a:buNone/>
              <a:defRPr sz="18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3pPr>
            <a:lvl4pPr marL="0" indent="0" algn="r">
              <a:spcBef>
                <a:spcPts val="0"/>
              </a:spcBef>
              <a:buNone/>
              <a:defRPr sz="18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4pPr>
            <a:lvl5pPr marL="0" indent="0" algn="r">
              <a:spcBef>
                <a:spcPts val="0"/>
              </a:spcBef>
              <a:buNone/>
              <a:defRPr sz="18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5pPr>
            <a:lvl6pPr marL="0" indent="0" algn="r">
              <a:spcBef>
                <a:spcPts val="0"/>
              </a:spcBef>
              <a:buNone/>
              <a:defRPr sz="18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6pPr>
            <a:lvl7pPr marL="0" indent="0" algn="r">
              <a:spcBef>
                <a:spcPts val="0"/>
              </a:spcBef>
              <a:buNone/>
              <a:defRPr sz="18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7pPr>
            <a:lvl8pPr marL="0" indent="0" algn="r">
              <a:spcBef>
                <a:spcPts val="0"/>
              </a:spcBef>
              <a:buNone/>
              <a:defRPr sz="18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8pPr>
            <a:lvl9pPr marL="0" indent="0" algn="r">
              <a:spcBef>
                <a:spcPts val="0"/>
              </a:spcBef>
              <a:buNone/>
              <a:defRPr sz="18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4" name="Google Shape;24;p18">
            <a:extLst xmlns:a="http://schemas.openxmlformats.org/drawingml/2006/main">
              <a:ext uri="{FF2B5EF4-FFF2-40B4-BE49-F238E27FC236}">
                <a16:creationId xmlns:a16="http://schemas.microsoft.com/office/drawing/2014/main" id="{40EBEB08-6919-45EC-8ABA-2E04F9546C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1531" y="1157591"/>
            <a:ext cx="11348194" cy="5009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Golos Text"/>
                <a:ea typeface="Golos Text"/>
                <a:cs typeface="Golos Text"/>
              </a:defRPr>
            </a:lvl1pPr>
            <a:lvl2pPr marL="914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</a:defRPr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</a:defRPr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Финальный слайд">
  <p:cSld name="Финальный слайд">
    <p:bg>
      <p:bgPr>
        <a:blipFill xmlns:a="http://schemas.openxmlformats.org/drawingml/2006/main">
          <a:blip xmlns:r="http://schemas.openxmlformats.org/officeDocument/2006/relationships" r:embed="R8439bdf8e35f439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19">
            <a:extLst xmlns:a="http://schemas.openxmlformats.org/drawingml/2006/main">
              <a:ext uri="{FF2B5EF4-FFF2-40B4-BE49-F238E27FC236}">
                <a16:creationId xmlns:a16="http://schemas.microsoft.com/office/drawing/2014/main" id="{10C54E7E-3C57-47FF-9A2B-9ABF191A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59013"/>
            <a:ext cx="8229600" cy="620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olos Text SemiBold"/>
              <a:buNone/>
            </a:pPr>
            <a:r>
              <a:rPr sz="6000" b="1" i="0" u="none" cap="non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rPr>
              <a:t>Спасибо</a:t>
            </a:r>
            <a:br/>
            <a:r>
              <a:rPr sz="6000" b="1" i="0" u="none" cap="non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rPr>
              <a:t>за внимание!</a:t>
            </a:r>
            <a:endParaRPr sz="6000" b="1" i="0" u="none" cap="none">
              <a:solidFill>
                <a:srgbClr val="FFFFFF"/>
              </a:solidFill>
              <a:latin typeface="Golos Text SemiBold"/>
              <a:ea typeface="Golos Text SemiBold"/>
              <a:cs typeface="Golos Text SemiBold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1_Title Slide">
  <p:cSld name="1_Title Slide">
    <p:bg>
      <p:bgPr>
        <a:blipFill xmlns:a="http://schemas.openxmlformats.org/drawingml/2006/main">
          <a:blip xmlns:r="http://schemas.openxmlformats.org/officeDocument/2006/relationships" r:embed="R2d33e7375b73421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g391f1587c4c_0_394">
            <a:extLst xmlns:a="http://schemas.openxmlformats.org/drawingml/2006/main">
              <a:ext uri="{FF2B5EF4-FFF2-40B4-BE49-F238E27FC236}">
                <a16:creationId xmlns:a16="http://schemas.microsoft.com/office/drawing/2014/main" id="{98C7A131-F955-4AE9-A63A-A0162888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888" y="653699"/>
            <a:ext cx="246300" cy="4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g391f1587c4c_0_394">
            <a:extLst xmlns:a="http://schemas.openxmlformats.org/drawingml/2006/main">
              <a:ext uri="{FF2B5EF4-FFF2-40B4-BE49-F238E27FC236}">
                <a16:creationId xmlns:a16="http://schemas.microsoft.com/office/drawing/2014/main" id="{D7ECEB51-BE7F-4179-905B-B179982E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068" y="569652"/>
            <a:ext cx="246300" cy="4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g391f1587c4c_0_394">
            <a:extLst xmlns:a="http://schemas.openxmlformats.org/drawingml/2006/main">
              <a:ext uri="{FF2B5EF4-FFF2-40B4-BE49-F238E27FC236}">
                <a16:creationId xmlns:a16="http://schemas.microsoft.com/office/drawing/2014/main" id="{06ED69DF-C737-4DCD-A51E-6015C15A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888" y="653699"/>
            <a:ext cx="246300" cy="4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Google Shape;31;g391f1587c4c_0_394">
            <a:extLst xmlns:a="http://schemas.openxmlformats.org/drawingml/2006/main">
              <a:ext uri="{FF2B5EF4-FFF2-40B4-BE49-F238E27FC236}">
                <a16:creationId xmlns:a16="http://schemas.microsoft.com/office/drawing/2014/main" id="{6C23C74F-CC51-4AD7-8350-2AF6AF54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068" y="569652"/>
            <a:ext cx="246300" cy="4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g391f1587c4c_0_394">
            <a:extLst xmlns:a="http://schemas.openxmlformats.org/drawingml/2006/main">
              <a:ext uri="{FF2B5EF4-FFF2-40B4-BE49-F238E27FC236}">
                <a16:creationId xmlns:a16="http://schemas.microsoft.com/office/drawing/2014/main" id="{803BF191-9DA7-41CE-96EA-933A3C6CB6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8580"/>
            <a:ext cx="9099300" cy="7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Golos Text SemiBold"/>
              <a:buNone/>
              <a:defRPr sz="4300">
                <a:latin typeface="Golos Text SemiBold"/>
                <a:ea typeface="Golos Text SemiBold"/>
                <a:cs typeface="Golos Text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3" name="Google Shape;33;g391f1587c4c_0_394">
            <a:extLst xmlns:a="http://schemas.openxmlformats.org/drawingml/2006/main">
              <a:ext uri="{FF2B5EF4-FFF2-40B4-BE49-F238E27FC236}">
                <a16:creationId xmlns:a16="http://schemas.microsoft.com/office/drawing/2014/main" id="{0025FC42-5EB7-4880-A919-F2ABBF65DD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599" y="1386883"/>
            <a:ext cx="11185500" cy="49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t">
            <a:normAutofit/>
          </a:bodyPr>
          <a:lstStyle xmlns:a="http://schemas.openxmlformats.org/drawingml/2006/main">
            <a:lvl1pPr marL="457200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marL="914400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2pPr>
            <a:lvl3pPr marL="1371600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3pPr>
            <a:lvl4pPr marL="1828800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4pPr>
            <a:lvl5pPr marL="2286000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marL="274320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4dbe0cb31e4689" /><Relationship Type="http://schemas.openxmlformats.org/officeDocument/2006/relationships/slideLayout" Target="/ppt/slideLayouts/slideLayout1.xml" Id="R8d741b10405d4952" /><Relationship Type="http://schemas.openxmlformats.org/officeDocument/2006/relationships/slideLayout" Target="/ppt/slideLayouts/slideLayout2.xml" Id="R7595bf2543d946eb" /><Relationship Type="http://schemas.openxmlformats.org/officeDocument/2006/relationships/slideLayout" Target="/ppt/slideLayouts/slideLayout3.xml" Id="Rb70b4356ce154378" /><Relationship Type="http://schemas.openxmlformats.org/officeDocument/2006/relationships/slideLayout" Target="/ppt/slideLayouts/slideLayout4.xml" Id="Ra39de8583a1d4c1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6">
            <a:extLst xmlns:a="http://schemas.openxmlformats.org/drawingml/2006/main">
              <a:ext uri="{FF2B5EF4-FFF2-40B4-BE49-F238E27FC236}">
                <a16:creationId xmlns:a16="http://schemas.microsoft.com/office/drawing/2014/main" id="{22B2D2F2-1223-4AB9-87FD-473F7D7494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1" name="Google Shape;11;p16">
            <a:extLst xmlns:a="http://schemas.openxmlformats.org/drawingml/2006/main">
              <a:ext uri="{FF2B5EF4-FFF2-40B4-BE49-F238E27FC236}">
                <a16:creationId xmlns:a16="http://schemas.microsoft.com/office/drawing/2014/main" id="{BD8FF6CD-C5A3-4DA1-A24B-F7D9142C49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1pPr>
            <a:lvl2pPr marL="9144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3pPr>
            <a:lvl4pPr marL="18288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4pPr>
            <a:lvl5pPr marL="22860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9pPr>
          </a:lstStyle>
          <a:p xmlns:a="http://schemas.openxmlformats.org/drawingml/2006/main"/>
        </p:txBody>
      </p:sp>
      <p:sp>
        <p:nvSpPr>
          <p:cNvPr id="12" name="Google Shape;12;p16">
            <a:extLst xmlns:a="http://schemas.openxmlformats.org/drawingml/2006/main">
              <a:ext uri="{FF2B5EF4-FFF2-40B4-BE49-F238E27FC236}">
                <a16:creationId xmlns:a16="http://schemas.microsoft.com/office/drawing/2014/main" id="{47647992-E9E0-479F-B089-D7C59C2464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9pPr>
          </a:lstStyle>
          <a:p xmlns:a="http://schemas.openxmlformats.org/drawingml/2006/main"/>
        </p:txBody>
      </p:sp>
      <p:sp>
        <p:nvSpPr>
          <p:cNvPr id="13" name="Google Shape;13;p16">
            <a:extLst xmlns:a="http://schemas.openxmlformats.org/drawingml/2006/main">
              <a:ext uri="{FF2B5EF4-FFF2-40B4-BE49-F238E27FC236}">
                <a16:creationId xmlns:a16="http://schemas.microsoft.com/office/drawing/2014/main" id="{4D95BA3B-2DB4-42F2-AAB4-CC1D5ED77B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9pPr>
          </a:lstStyle>
          <a:p xmlns:a="http://schemas.openxmlformats.org/drawingml/2006/main"/>
        </p:txBody>
      </p:sp>
      <p:sp>
        <p:nvSpPr>
          <p:cNvPr id="14" name="Google Shape;14;p16">
            <a:extLst xmlns:a="http://schemas.openxmlformats.org/drawingml/2006/main">
              <a:ext uri="{FF2B5EF4-FFF2-40B4-BE49-F238E27FC236}">
                <a16:creationId xmlns:a16="http://schemas.microsoft.com/office/drawing/2014/main" id="{79E4C3CE-A11F-45AB-B549-0AA665FF10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741b10405d4952"/>
    <p:sldLayoutId xmlns:r="http://schemas.openxmlformats.org/officeDocument/2006/relationships" id="2147483650" r:id="R7595bf2543d946eb"/>
    <p:sldLayoutId xmlns:r="http://schemas.openxmlformats.org/officeDocument/2006/relationships" id="2147483651" r:id="Rb70b4356ce154378"/>
    <p:sldLayoutId xmlns:r="http://schemas.openxmlformats.org/officeDocument/2006/relationships" id="2147483652" r:id="Ra39de8583a1d4c16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d72afe4ca9943e2" /><Relationship Type="http://schemas.openxmlformats.org/officeDocument/2006/relationships/image" Target="/ppt/media/image5.jpeg" Id="R903b30cc1a0c4bbf" /><Relationship Type="http://schemas.openxmlformats.org/officeDocument/2006/relationships/notesSlide" Target="/ppt/notesSlides/notesSlide1.xml" Id="Rbd5d4ac1aabc48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20a1ee5d964e19" /><Relationship Type="http://schemas.openxmlformats.org/officeDocument/2006/relationships/notesSlide" Target="/ppt/notesSlides/notesSlide2.xml" Id="Rd921ff35a5694a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c95531d7244db1" /><Relationship Type="http://schemas.openxmlformats.org/officeDocument/2006/relationships/notesSlide" Target="/ppt/notesSlides/notesSlide3.xml" Id="Rc3761889b46847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81ef9ade8b4ac3" /><Relationship Type="http://schemas.openxmlformats.org/officeDocument/2006/relationships/notesSlide" Target="/ppt/notesSlides/notesSlide4.xml" Id="R0cab6b9f7da640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0ce79524e24a22" /><Relationship Type="http://schemas.openxmlformats.org/officeDocument/2006/relationships/notesSlide" Target="/ppt/notesSlides/notesSlide5.xml" Id="Rb7cfeba7f26841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23105e002a420b" /><Relationship Type="http://schemas.openxmlformats.org/officeDocument/2006/relationships/notesSlide" Target="/ppt/notesSlides/notesSlide6.xml" Id="R1a7b679926f14a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9b09ec154e4d77" /><Relationship Type="http://schemas.openxmlformats.org/officeDocument/2006/relationships/image" Target="/ppt/media/image.png" Id="Rd748ac3f19d54144" /><Relationship Type="http://schemas.openxmlformats.org/officeDocument/2006/relationships/notesSlide" Target="/ppt/notesSlides/notesSlide7.xml" Id="Re50bc96186c548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9052f6790847d4" /><Relationship Type="http://schemas.openxmlformats.org/officeDocument/2006/relationships/image" Target="/ppt/media/image2.png" Id="R6bb5922691cf4405" /><Relationship Type="http://schemas.openxmlformats.org/officeDocument/2006/relationships/notesSlide" Target="/ppt/notesSlides/notesSlide8.xml" Id="R124da664dd6247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771032701f4c6b" /><Relationship Type="http://schemas.openxmlformats.org/officeDocument/2006/relationships/notesSlide" Target="/ppt/notesSlides/notesSlide9.xml" Id="Rd853b9ce4c0842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56d3a1279e4b0f" /><Relationship Type="http://schemas.openxmlformats.org/officeDocument/2006/relationships/chart" Target="/ppt/slides/charts/chart1.xml" Id="R0963f3e2052a4ebc" /><Relationship Type="http://schemas.openxmlformats.org/officeDocument/2006/relationships/notesSlide" Target="/ppt/notesSlides/notesSlide10.xml" Id="R519b6093b21b49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9ad9ef994844ae" /><Relationship Type="http://schemas.openxmlformats.org/officeDocument/2006/relationships/chart" Target="/ppt/slides/charts/chart2.xml" Id="R12063f00ea734599" /><Relationship Type="http://schemas.openxmlformats.org/officeDocument/2006/relationships/notesSlide" Target="/ppt/notesSlides/notesSlide11.xml" Id="R2622a7595b0945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de1a7d61a24f61" /><Relationship Type="http://schemas.openxmlformats.org/officeDocument/2006/relationships/notesSlide" Target="/ppt/notesSlides/notesSlide12.xml" Id="Rd7ef926127ed44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a129fc47bfd4cb6" /><Relationship Type="http://schemas.openxmlformats.org/officeDocument/2006/relationships/notesSlide" Target="/ppt/notesSlides/notesSlide13.xml" Id="R2413398262b547a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717"/>
                </a:solidFill>
                <a:latin typeface="Golos Text"/>
                <a:ea typeface="Golos Text"/>
                <a:cs typeface="Golos Text"/>
              </a:rPr>
              <a:t>E2E и содержательная оценка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717"/>
              </a:solidFill>
              <a:latin typeface="Golos Text"/>
              <a:ea typeface="Golos Text"/>
              <a:cs typeface="Golos T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E2E-успех</c:v>
          </c:tx>
          <c:spPr>
            <a:solidFill xmlns:a="http://schemas.openxmlformats.org/drawingml/2006/main">
              <a:srgbClr val="169873"/>
            </a:solidFill>
          </c:spPr>
          <c:cat>
            <c:strRef>
              <c:f>'Chart Data'!$A$2:$A$6</c:f>
              <c:strCache>
                <c:ptCount val="5"/>
                <c:pt idx="0">
                  <c:v>B0</c:v>
                </c:pt>
                <c:pt idx="1">
                  <c:v>B1</c:v>
                </c:pt>
                <c:pt idx="2">
                  <c:v>FULL</c:v>
                </c:pt>
                <c:pt idx="3">
                  <c:v>без критика</c:v>
                </c:pt>
                <c:pt idx="4">
                  <c:v>без исправления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v>Содержание</c:v>
          </c:tx>
          <c:spPr>
            <a:solidFill xmlns:a="http://schemas.openxmlformats.org/drawingml/2006/main">
              <a:srgbClr val="3867B0"/>
            </a:solidFill>
          </c:spPr>
          <c:cat>
            <c:strRef>
              <c:f>'Chart Data'!$C$2:$C$6</c:f>
              <c:strCache>
                <c:ptCount val="5"/>
                <c:pt idx="0">
                  <c:v>B0</c:v>
                </c:pt>
                <c:pt idx="1">
                  <c:v>B1</c:v>
                </c:pt>
                <c:pt idx="2">
                  <c:v>FULL</c:v>
                </c:pt>
                <c:pt idx="3">
                  <c:v>без критика</c:v>
                </c:pt>
                <c:pt idx="4">
                  <c:v>без исправления</c:v>
                </c:pt>
              </c:strCache>
            </c:strRef>
          </c:cat>
          <c:val>
            <c:numRef>
              <c:f>'Chart Data'!$D$2:$D$6</c:f>
              <c:numCache>
                <c:formatCode>0%</c:formatCode>
                <c:ptCount val="5"/>
                <c:pt idx="0">
                  <c:v>0.524</c:v>
                </c:pt>
                <c:pt idx="1">
                  <c:v>0.487</c:v>
                </c:pt>
                <c:pt idx="2">
                  <c:v>0.714</c:v>
                </c:pt>
                <c:pt idx="3">
                  <c:v>0.699</c:v>
                </c:pt>
                <c:pt idx="4">
                  <c:v>0.73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1717"/>
                  </a:solidFill>
                  <a:latin typeface="Golos Text"/>
                  <a:ea typeface="Golos Text"/>
                  <a:cs typeface="Golos T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DE3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17C"/>
                </a:solidFill>
                <a:latin typeface="Golos Text"/>
                <a:ea typeface="Golos Text"/>
                <a:cs typeface="Golos Text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66717C"/>
              </a:solidFill>
              <a:latin typeface="Golos Text"/>
              <a:ea typeface="Golos Text"/>
              <a:cs typeface="Golos Text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71717"/>
                </a:solidFill>
                <a:latin typeface="Golos Text"/>
                <a:ea typeface="Golos Text"/>
                <a:cs typeface="Golos Text"/>
              </a:rPr>
              <a:t>Изменение на тех же трёх кейсах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71717"/>
              </a:solidFill>
              <a:latin typeface="Golos Text"/>
              <a:ea typeface="Golos Text"/>
              <a:cs typeface="Golos T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до</c:v>
          </c:tx>
          <c:spPr>
            <a:solidFill xmlns:a="http://schemas.openxmlformats.org/drawingml/2006/main">
              <a:srgbClr val="A9B2BC"/>
            </a:solidFill>
          </c:spPr>
          <c:cat>
            <c:strRef>
              <c:f>'Chart Data'!$A$2:$A$5</c:f>
              <c:strCache>
                <c:ptCount val="4"/>
                <c:pt idx="0">
                  <c:v>E2E</c:v>
                </c:pt>
                <c:pt idx="1">
                  <c:v>Содержание</c:v>
                </c:pt>
                <c:pt idx="2">
                  <c:v>Branch F1</c:v>
                </c:pt>
                <c:pt idx="3">
                  <c:v>Trace F1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0.333</c:v>
                </c:pt>
                <c:pt idx="1">
                  <c:v>0.707</c:v>
                </c:pt>
                <c:pt idx="2">
                  <c:v>0.69</c:v>
                </c:pt>
                <c:pt idx="3">
                  <c:v>0.952</c:v>
                </c:pt>
              </c:numCache>
            </c:numRef>
          </c:val>
        </c:ser>
        <c:ser>
          <c:idx val="1"/>
          <c:order val="1"/>
          <c:tx>
            <c:v>после</c:v>
          </c:tx>
          <c:spPr>
            <a:solidFill xmlns:a="http://schemas.openxmlformats.org/drawingml/2006/main">
              <a:srgbClr val="169873"/>
            </a:solidFill>
          </c:spPr>
          <c:cat>
            <c:strRef>
              <c:f>'Chart Data'!$C$2:$C$5</c:f>
              <c:strCache>
                <c:ptCount val="4"/>
                <c:pt idx="0">
                  <c:v>E2E</c:v>
                </c:pt>
                <c:pt idx="1">
                  <c:v>Содержание</c:v>
                </c:pt>
                <c:pt idx="2">
                  <c:v>Branch F1</c:v>
                </c:pt>
                <c:pt idx="3">
                  <c:v>Trace F1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1</c:v>
                </c:pt>
                <c:pt idx="1">
                  <c:v>0.714</c:v>
                </c:pt>
                <c:pt idx="2">
                  <c:v>0.69</c:v>
                </c:pt>
                <c:pt idx="3">
                  <c:v>0.933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1717"/>
                  </a:solidFill>
                  <a:latin typeface="Golos Text"/>
                  <a:ea typeface="Golos Text"/>
                  <a:cs typeface="Golos T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DE3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17C"/>
                </a:solidFill>
                <a:latin typeface="Golos Text"/>
                <a:ea typeface="Golos Text"/>
                <a:cs typeface="Golos Text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66717C"/>
              </a:solidFill>
              <a:latin typeface="Golos Text"/>
              <a:ea typeface="Golos Text"/>
              <a:cs typeface="Golos Text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03b30cc1a0c4bb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3BBD2-2A31-4BC2-8657-792611D8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81050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800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Технологический проект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48DDA-6D47-4CE3-A874-94056D93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33650"/>
            <a:ext cx="771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2550" b="0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rPr>
              <a:t>Агентная генерация Use Case и activity-диаграмм</a:t>
            </a:r>
          </a:p>
          <a:p xmlns:a="http://schemas.openxmlformats.org/drawingml/2006/main">
            <a:pPr algn="ctr">
              <a:defRPr sz="2550" b="0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2550" b="0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rPr>
              <a:t>по требованиям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414E1-E096-4255-B4FC-2E943FD3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62450"/>
            <a:ext cx="5238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Студент: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Боцман Артём Евгеньевич, гр. J4140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Научный руководитель: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Филатова Анастасия Алексеевна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LangGraph · трассировка · проверка · ограниченное исправление</a:t>
            </a:r>
          </a:p>
        </p:txBody>
      </p:sp>
    </p:spTree>
    <p:extLst>
      <p:ext uri="{BB962C8B-B14F-4D97-AF65-F5344CB8AC3E}">
        <p14:creationId xmlns:p14="http://schemas.microsoft.com/office/powerpoint/2010/main" val="14001952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E76B8F-79EC-4A7F-A87C-E10AA17F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33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2625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Что изменилось с прошлого раза?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64378-9C3E-4EBB-8E4B-7187BD25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7808B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875" b="1">
                <a:solidFill>
                  <a:srgbClr val="77808B"/>
                </a:solidFill>
                <a:latin typeface="Golos Text SemiBold"/>
                <a:ea typeface="Golos Text SemiBold"/>
                <a:cs typeface="Golos Text SemiBold"/>
              </a:rPr>
              <a:t>Предыдущая версия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8A2E0-B0BB-4154-BA52-82678CF5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2096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9873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875" b="1">
                <a:solidFill>
                  <a:srgbClr val="169873"/>
                </a:solidFill>
                <a:latin typeface="Golos Text SemiBold"/>
                <a:ea typeface="Golos Text SemiBold"/>
                <a:cs typeface="Golos Text SemiBold"/>
              </a:rPr>
              <a:t>Текущая версия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47A9D-9665-41A8-87F8-ED29AEE4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4591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Широкая тема генерации диаграмм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6DB70-FB6E-4B85-AC87-BB862028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81175"/>
            <a:ext cx="457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867B0"/>
          </a:solidFill>
          <a:ln xmlns:a="http://schemas.openxmlformats.org/drawingml/2006/main" w="9525">
            <a:solidFill>
              <a:srgbClr val="3867B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C438F-2AC2-454B-A1DB-A73D487B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192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650" b="1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2C2A3-4ED5-4FAF-9855-1E9698D6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43075"/>
            <a:ext cx="4810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1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Чёткая граница: требования до кода → UC →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425A1-A18B-4330-92B9-C92F442B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10658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ABE99-D7F8-4F19-8534-A9E30786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4591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LLM-ответ и Mermaid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5E158-0E4E-4DD3-A004-1C762879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81275"/>
            <a:ext cx="457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867B0"/>
          </a:solidFill>
          <a:ln xmlns:a="http://schemas.openxmlformats.org/drawingml/2006/main" w="9525">
            <a:solidFill>
              <a:srgbClr val="3867B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255A7-384E-45F5-8637-9DE854DE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193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650" b="1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D10FA9-AE3B-4FDD-A54E-C2EEB196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4810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1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Типизированные артефакты и TraceManifest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86DF8-449D-455F-A269-C6C51630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10658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37653-9D62-417C-9E05-4D236C01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43275"/>
            <a:ext cx="4591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Неясная роль агентности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B4795-41B4-47F7-AFAF-71E33BE3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81375"/>
            <a:ext cx="457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867B0"/>
          </a:solidFill>
          <a:ln xmlns:a="http://schemas.openxmlformats.org/drawingml/2006/main" w="9525">
            <a:solidFill>
              <a:srgbClr val="3867B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31AA9-EA05-4994-9240-6BCF3D89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194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650" b="1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BD5DA-CB9B-45E5-AB0C-AE02D580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43275"/>
            <a:ext cx="4810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1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2 агента, строгие gates и ограниченное исправление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B6E66-6D27-4F25-844B-F4B8A56F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10658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2BB5C8-CD6F-4C11-97F8-AD2571FD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4591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Качество показывалось примерами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41731-EF6F-4AA7-A58E-6AAA16E0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81475"/>
            <a:ext cx="457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867B0"/>
          </a:solidFill>
          <a:ln xmlns:a="http://schemas.openxmlformats.org/drawingml/2006/main" w="9525">
            <a:solidFill>
              <a:srgbClr val="3867B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C949CF-7C29-4226-887F-BC517A0B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2195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650" b="1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41579-66F4-4D0C-9AF3-CB208812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3375"/>
            <a:ext cx="4810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1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E2E, пять F1, stability, tokens, latency, cost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5029B8-A918-440D-8D6D-9446BC1E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58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16AFB9-CF55-4438-B36F-E66876A5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43475"/>
            <a:ext cx="4591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Сравнение не было зафиксировано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7E970F-483D-48D3-9D21-F641F8B8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81575"/>
            <a:ext cx="457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867B0"/>
          </a:solidFill>
          <a:ln xmlns:a="http://schemas.openxmlformats.org/drawingml/2006/main" w="9525">
            <a:solidFill>
              <a:srgbClr val="3867B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31AF46-BE07-48FB-AF17-F825B00F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019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650" b="1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EDB2D2-4121-4961-9123-76C451C0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43475"/>
            <a:ext cx="4810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1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B0, B1, FULL и два варианта компонентов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42D40E-39EF-43D4-A429-AAAAC17B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06584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A7D4C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FD31A3-50BF-4A86-B704-21C64ED6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245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9873"/>
                </a:solidFill>
                <a:latin typeface="Golos Text"/>
                <a:ea typeface="Golos Text"/>
                <a:cs typeface="Golos Text"/>
              </a:defRPr>
            </a:pPr>
            <a:r>
              <a:rPr sz="1425" b="1">
                <a:solidFill>
                  <a:srgbClr val="169873"/>
                </a:solidFill>
                <a:latin typeface="Golos Text"/>
                <a:ea typeface="Golos Text"/>
                <a:cs typeface="Golos Text"/>
              </a:rPr>
              <a:t>Теперь выводы опираются на сохранённые эксперименты, а не только на вид диаграммы.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8A8B27-5A29-49AE-830C-7CFE01ED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7222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defRPr>
            </a:pPr>
            <a:r>
              <a: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398897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15B2A2-16F8-4313-88D6-66055BC2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33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2775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Цель и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B4E1D-FCF4-4F8C-AA73-502D2EB3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44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C9D4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BD1C6-4437-46E3-B192-4934B8C5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62075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67B0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875" b="1">
                <a:solidFill>
                  <a:srgbClr val="3867B0"/>
                </a:solidFill>
                <a:latin typeface="Golos Text SemiBold"/>
                <a:ea typeface="Golos Text SemiBold"/>
                <a:cs typeface="Golos Text SemiBold"/>
              </a:rPr>
              <a:t>Цель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E72F7-6977-47DF-A11B-14DC2063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323975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7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Разработать и исследовать агентный конвейер, который преобразует SpecificationReq в Use Cases, stories и activity-диаграммы с машинно проверяемой трассировкой.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A84A2-6B02-4A67-972C-E70A4255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71725"/>
            <a:ext cx="447675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3867B0"/>
          </a:solidFill>
          <a:ln xmlns:a="http://schemas.openxmlformats.org/drawingml/2006/main" w="9525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9945F-1175-4101-B3C1-74430089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447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725" b="1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6FCDE-253F-477F-9810-C58FD6F2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717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650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Контракты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C5ED8-59D5-436F-8E95-C8885C16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71725"/>
            <a:ext cx="795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Типизировать вход, UC, stories, activity и trace manifest.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AC590-5C44-4EC7-B2AF-3C17DF71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19425"/>
            <a:ext cx="447675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3867B0"/>
          </a:solidFill>
          <a:ln xmlns:a="http://schemas.openxmlformats.org/drawingml/2006/main" w="9525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12F88-F2C3-450D-A0C0-9BCCAC90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447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725" b="1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08780-AAEF-4332-9A19-6C71658D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194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650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Граф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993B3-6BB0-439B-84A7-4916DAAB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19425"/>
            <a:ext cx="795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Реализовать два агента и корневой orchestrator LangGraph.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6A6A3-EC1E-4301-AFAA-B1CF2B31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447675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3867B0"/>
          </a:solidFill>
          <a:ln xmlns:a="http://schemas.openxmlformats.org/drawingml/2006/main" w="9525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58009-3947-49DC-A3A1-5E19FC4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447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725" b="1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F19D1-F15E-4562-ACF4-9CF4AAC7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671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650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Контроль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735084-A7F5-4161-A792-46872CC2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67125"/>
            <a:ext cx="795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Совместить схемы, правила, критик и ограниченное исправление.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7B598-2D54-4A73-94DB-05F64EC8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47675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69873"/>
          </a:solidFill>
          <a:ln xmlns:a="http://schemas.openxmlformats.org/drawingml/2006/main" w="9525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8567F-3187-41F6-B8F8-7A8E1967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71975"/>
            <a:ext cx="447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725" b="1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038D0-9440-4B28-884A-4D58B09E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148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650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Benchmark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07032-45D5-416A-A1F9-AC0F114D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14825"/>
            <a:ext cx="795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Подготовить 30 входов, gold, DEV/hidden и evaluator.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D95E5D-61CD-4487-83B0-EC8C7723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62525"/>
            <a:ext cx="447675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C7623"/>
          </a:solidFill>
          <a:ln xmlns:a="http://schemas.openxmlformats.org/drawingml/2006/main" w="9525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5D32C-E521-4314-ADB8-83ACF593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9675"/>
            <a:ext cx="447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725" b="1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9D2F3-762C-4910-A7D3-3AEC1EAB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625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650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Эксперимент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16084-8350-4C43-8033-17E43839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62525"/>
            <a:ext cx="795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Сравнить пять конфигураций, цену, ошибки и ограничения.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05A888-E40B-48A1-821C-F9A35B23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7222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defRPr>
            </a:pPr>
            <a:r>
              <a: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83063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1AF85-2866-469F-AF5A-63B91C0E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33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2550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Существующие подходы и роль в сравнении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28625" y="1247775"/>
          <a:ext xmlns:a="http://schemas.openxmlformats.org/drawingml/2006/main" cx="11334750" cy="3752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152650"/>
                <a:gridCol w="1238250"/>
                <a:gridCol w="2809875"/>
                <a:gridCol w="3133725"/>
              </a:tblGrid>
              <a:tr h="6254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Метод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Вход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LLM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Что проверяет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Роль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6254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B0_RULE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SpecificationReq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нет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схемы + правила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прямой нижний ориентир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B1_ONESHOT</a:t>
                      </a:r>
                    </a:p>
                  </a:txBody>
                  <a:tcPr marL="91440" marR="91440" marT="45720" marB="45720">
                    <a:solidFill>
                      <a:srgbClr val="F4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SpecificationReq</a:t>
                      </a:r>
                    </a:p>
                  </a:txBody>
                  <a:tcPr marL="91440" marR="91440" marT="45720" marB="45720">
                    <a:solidFill>
                      <a:srgbClr val="F4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1 запрос</a:t>
                      </a:r>
                    </a:p>
                  </a:txBody>
                  <a:tcPr marL="91440" marR="91440" marT="45720" marB="45720">
                    <a:solidFill>
                      <a:srgbClr val="F4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финальный gate</a:t>
                      </a:r>
                    </a:p>
                  </a:txBody>
                  <a:tcPr marL="91440" marR="91440" marT="45720" marB="45720">
                    <a:solidFill>
                      <a:srgbClr val="F4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прямой LLM-ориентир</a:t>
                      </a:r>
                    </a:p>
                  </a:txBody>
                  <a:tcPr marL="91440" marR="91440" marT="45720" marB="45720">
                    <a:solidFill>
                      <a:srgbClr val="F4F6F8"/>
                    </a:solidFill>
                  </a:tcPr>
                </a:tc>
              </a:tr>
              <a:tr h="6254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FULL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SpecificationReq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да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критик + repair + validators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исследуемая система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Pyreverse</a:t>
                      </a:r>
                    </a:p>
                  </a:txBody>
                  <a:tcPr marL="91440" marR="91440" marT="45720" marB="45720">
                    <a:solidFill>
                      <a:srgbClr val="F4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Python-код</a:t>
                      </a:r>
                    </a:p>
                  </a:txBody>
                  <a:tcPr marL="91440" marR="91440" marT="45720" marB="45720">
                    <a:solidFill>
                      <a:srgbClr val="F4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нет</a:t>
                      </a:r>
                    </a:p>
                  </a:txBody>
                  <a:tcPr marL="91440" marR="91440" marT="45720" marB="45720">
                    <a:solidFill>
                      <a:srgbClr val="F4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static structure</a:t>
                      </a:r>
                    </a:p>
                  </a:txBody>
                  <a:tcPr marL="91440" marR="91440" marT="45720" marB="45720">
                    <a:solidFill>
                      <a:srgbClr val="F4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смежный ориентир</a:t>
                      </a:r>
                    </a:p>
                  </a:txBody>
                  <a:tcPr marL="91440" marR="91440" marT="45720" marB="45720">
                    <a:solidFill>
                      <a:srgbClr val="F4F6F8"/>
                    </a:solidFill>
                  </a:tcPr>
                </a:tc>
              </a:tr>
              <a:tr h="6254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GitDiagram / DeepWiki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репозиторий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да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structure / wiki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7313A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смежные системы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A2F0A-4202-4D09-A2D0-C1B13FAD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219700"/>
            <a:ext cx="5181600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A7D4C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A0087-BDEC-4C27-97E1-178403A2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9873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350" b="1">
                <a:solidFill>
                  <a:srgbClr val="169873"/>
                </a:solidFill>
                <a:latin typeface="Golos Text SemiBold"/>
                <a:ea typeface="Golos Text SemiBold"/>
                <a:cs typeface="Golos Text SemiBold"/>
              </a:rPr>
              <a:t>Почему не только правила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DEDB9-8556-4D66-BADE-E8CDAF95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4695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2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B0: semantic 0,408; ветвления теряются.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B475B-98A6-4A28-9849-E5FEF380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219700"/>
            <a:ext cx="5181600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2BE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207F3-A766-49A2-B55E-48AB4B3E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149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C7623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350" b="1">
                <a:solidFill>
                  <a:srgbClr val="EC7623"/>
                </a:solidFill>
                <a:latin typeface="Golos Text SemiBold"/>
                <a:ea typeface="Golos Text SemiBold"/>
                <a:cs typeface="Golos Text SemiBold"/>
              </a:rPr>
              <a:t>Почему не один запрос 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0D405-7562-4F7D-A358-26489614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57850"/>
            <a:ext cx="4695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2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B1: 0/3 результатов прошли E2E.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6B3C5-C533-43F9-9220-24D023DC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7222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defRPr>
            </a:pPr>
            <a:r>
              <a: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342861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66E4C4-A6C8-4E2E-B4B7-A8A26763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33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2625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Методы и инструменты исследования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729D9-D5B0-4CEE-BD7A-081ECCED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3429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1A2FB-B680-49F9-B570-36151165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95250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67B0"/>
          </a:solidFill>
          <a:ln xmlns:a="http://schemas.openxmlformats.org/drawingml/2006/main" w="9525">
            <a:solidFill>
              <a:srgbClr val="3867B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EAECD-16D5-436A-997F-3E2C46A0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8112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725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LangGraph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B9574-6D72-4C24-B003-BAAA283C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71650"/>
            <a:ext cx="2971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Вершины, условные рёбра, циклы с лимитом и сохранение состояния.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8E4D3-B52C-495C-B75F-55CC35C3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09675"/>
            <a:ext cx="3429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4E4D7-9B90-4F56-AC61-829893A1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09675"/>
            <a:ext cx="95250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9873"/>
          </a:solidFill>
          <a:ln xmlns:a="http://schemas.openxmlformats.org/drawingml/2006/main" w="9525">
            <a:solidFill>
              <a:srgbClr val="16987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E979C-6585-4457-B519-52107DCB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38112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725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Pydantic + TypedDict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C3DA1-60BD-4DAE-BF32-87DE2066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71650"/>
            <a:ext cx="2971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Строгие входные и выходные контракты; ошибки не маскируются текстом.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EA851-8313-47D7-BE34-E1ED4D64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209675"/>
            <a:ext cx="3429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10090-0E05-4391-8C24-61A3C95A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209675"/>
            <a:ext cx="95250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7623"/>
          </a:solidFill>
          <a:ln xmlns:a="http://schemas.openxmlformats.org/drawingml/2006/main" w="9525">
            <a:solidFill>
              <a:srgbClr val="EC76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06FF7-2B4A-4E64-9562-5BC96934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38112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725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DeepSeek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63CC3-F763-4B79-94CC-1A56C851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71650"/>
            <a:ext cx="2971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OpenAI-compatible API, temperature=0, retry/backoff, лимиты цены и токенов.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76188-B90C-40E9-87E4-91ABC929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3429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986DB-D9F4-4150-B485-EB971AE4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95250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4C70"/>
          </a:solidFill>
          <a:ln xmlns:a="http://schemas.openxmlformats.org/drawingml/2006/main" w="9525">
            <a:solidFill>
              <a:srgbClr val="9D4C7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6DE34-8CF1-4DA1-A94F-3992FF4A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242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725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TraceManifest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7F8FF-3549-4018-86FE-EA05633F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14725"/>
            <a:ext cx="2971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Двусторонние связи FR → UC → step → activity node/edge.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507E3-4C5B-48C4-A2B4-21809087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3429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3276AF-57A3-4FDD-83A0-15576FC9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95250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9B"/>
          </a:solidFill>
          <a:ln xmlns:a="http://schemas.openxmlformats.org/drawingml/2006/main" w="9525">
            <a:solidFill>
              <a:srgbClr val="168B9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F1B9D-0290-4C02-9D01-65170CE9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242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725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Mermaid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8F7EF9-350A-4C33-89B9-073DB19A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14725"/>
            <a:ext cx="2971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Типизированная модель сначала проверяется, затем рендерится детерминированно.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D8111D-0051-4788-841F-477BF418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3429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0A0F8D-4C43-4181-8BC8-60CB2A3A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95250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747"/>
          </a:solidFill>
          <a:ln xmlns:a="http://schemas.openxmlformats.org/drawingml/2006/main" w="9525">
            <a:solidFill>
              <a:srgbClr val="C9474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4B78D1-FE60-4F68-9CA4-B327F464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242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725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Evaluator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200D4E-3470-4983-96CB-733DA927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514725"/>
            <a:ext cx="2971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E2E, F1 по слотам, трассировка, ошибки, время, токены и стоимость.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47CE78-C7B4-4CCC-A2A1-0B6231B3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14875"/>
            <a:ext cx="111442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03A74F-42BB-43E0-B547-A82FE25B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05375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575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Инженерная проверка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B24AE8-02A4-4C30-801E-D3558890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721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350" b="1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57 тестов · Ruff · mypy · GitHub Actions · SQLite checkpoints · безопасные result bundles · MIT License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E04CE1-96BA-490E-AF7E-DC04433A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7222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defRPr>
            </a:pPr>
            <a:r>
              <a: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997177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E7E90-70ED-4B04-800E-473D1B50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33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2775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Технологическая новизна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1B714-DD15-4249-81F6-76D5F4F5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809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867B0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2325" b="1">
                <a:solidFill>
                  <a:srgbClr val="3867B0"/>
                </a:solidFill>
                <a:latin typeface="Golos Text SemiBold"/>
                <a:ea typeface="Golos Text SemiBold"/>
                <a:cs typeface="Golos Text SemiBold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04F25-0DDC-46BE-BE0C-29C4EF37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2763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800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Не текст, а контракт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354AA-027C-4A1D-B6CD-BEA8BEA9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685925"/>
            <a:ext cx="9477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Каждый промежуточный результат — проверяемая Pydantic-модель, а не свободный ответ LLM.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3B578-A77C-43E0-9C8D-0637479B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809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69873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2325" b="1">
                <a:solidFill>
                  <a:srgbClr val="169873"/>
                </a:solidFill>
                <a:latin typeface="Golos Text SemiBold"/>
                <a:ea typeface="Golos Text SemiBold"/>
                <a:cs typeface="Golos Text SemiBold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39751-E7AB-4BA7-AC36-0E054EF3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0982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800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Трассировка до ребра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7FD13-1093-428F-93C5-FBF5242A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19400"/>
            <a:ext cx="9477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Источник фиксируется не только для UC, но и для шага, узла и ребра activity-диаграммы.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F6092-1548-4A02-8EE1-415C10CB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809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867B0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2325" b="1">
                <a:solidFill>
                  <a:srgbClr val="3867B0"/>
                </a:solidFill>
                <a:latin typeface="Golos Text SemiBold"/>
                <a:ea typeface="Golos Text SemiBold"/>
                <a:cs typeface="Golos Text SemiBold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62E81-A5EA-44CA-8692-42FF1858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433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800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Доказательный критик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9E3D3-71A5-4509-823E-6E8BDBC8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52875"/>
            <a:ext cx="9477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Блокирующее замечание обязано ссылаться на конкретное требование и элемент модели.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49F85-B473-482B-99E1-D533BAFF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76775"/>
            <a:ext cx="809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69873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2325" b="1">
                <a:solidFill>
                  <a:srgbClr val="169873"/>
                </a:solidFill>
                <a:latin typeface="Golos Text SemiBold"/>
                <a:ea typeface="Golos Text SemiBold"/>
                <a:cs typeface="Golos Text SemiBold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7D90C-3FA9-46DA-8726-6DBA80E1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7677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800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Ограниченное исправление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DC5C2-02B1-4844-A3A4-DE18097B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86350"/>
            <a:ext cx="9477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После ошибки выполняется повторная проверка; число попыток ограничено и сохраняется в отчёте.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F94AB-AD55-4542-855D-8D3D1231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86450"/>
            <a:ext cx="10572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2BE9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AEEEA-D899-4ADC-83A5-4E66B9E9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4360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C7623"/>
                </a:solidFill>
                <a:latin typeface="Golos Text"/>
                <a:ea typeface="Golos Text"/>
                <a:cs typeface="Golos Text"/>
              </a:defRPr>
            </a:pPr>
            <a:r>
              <a:rPr sz="1425" b="1">
                <a:solidFill>
                  <a:srgbClr val="EC7623"/>
                </a:solidFill>
                <a:latin typeface="Golos Text"/>
                <a:ea typeface="Golos Text"/>
                <a:cs typeface="Golos Text"/>
              </a:rPr>
              <a:t>Практическое преимущество: диаграмму можно проверить и связать с требованиями до начала кодогенерации.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9FF5B-AD6E-45C6-A824-CEDB783C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7222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defRPr>
            </a:pPr>
            <a:r>
              <a: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628627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A0C82-71D6-4B87-8588-2AC11A9F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33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2625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Технический уровень реализации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62373-257D-490E-8D52-8996D432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67B0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800" b="1">
                <a:solidFill>
                  <a:srgbClr val="3867B0"/>
                </a:solidFill>
                <a:latin typeface="Golos Text SemiBold"/>
                <a:ea typeface="Golos Text SemiBold"/>
                <a:cs typeface="Golos Text SemiBold"/>
              </a:rPr>
              <a:t>Результат одного запуска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F6C30-71DA-47EB-8EB1-84231423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09725"/>
            <a:ext cx="481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• UC set + user/system stories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6D0EA-2B05-431B-8FE9-EFDF442E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09775"/>
            <a:ext cx="481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• Activity models + Mermaid + PNG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4C450-F06C-4478-86F4-74DFFE44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09825"/>
            <a:ext cx="481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• TraceManifest + validation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40F7C-FBEB-419D-9F43-74F25E1B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481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• Metrics + telemetry + checkpoints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4E49E-0717-45F6-82FB-3AE7E2D8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99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9873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800" b="1">
                <a:solidFill>
                  <a:srgbClr val="169873"/>
                </a:solidFill>
                <a:latin typeface="Golos Text SemiBold"/>
                <a:ea typeface="Golos Text SemiBold"/>
                <a:cs typeface="Golos Text SemiBold"/>
              </a:rPr>
              <a:t>Репозиторий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D5A35-8E4A-4FC6-A677-631B7827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909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67B0"/>
                </a:solidFill>
                <a:latin typeface="Golos Text"/>
                <a:ea typeface="Golos Text"/>
                <a:cs typeface="Golos Text"/>
              </a:defRPr>
            </a:pPr>
            <a:r>
              <a:rPr sz="1350" b="1">
                <a:solidFill>
                  <a:srgbClr val="3867B0"/>
                </a:solidFill>
                <a:latin typeface="Golos Text"/>
                <a:ea typeface="Golos Text"/>
                <a:cs typeface="Golos Text"/>
              </a:rPr>
              <a:t>github.com/ArtemBotsman/agent_langgraph_diagrams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883DE-4757-4D36-90A6-5D0761AB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81475"/>
            <a:ext cx="4810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README · install/run · 57 tests · CI · fixed dependencies · MIT · безопасные env-примеры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78938-0E6C-4B67-8A37-F731C07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57800"/>
            <a:ext cx="48101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2BE9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A17E8-75B6-43E1-BCE6-8D90D998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4102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C7623"/>
                </a:solidFill>
                <a:latin typeface="Golos Text"/>
                <a:ea typeface="Golos Text"/>
                <a:cs typeface="Golos Text"/>
              </a:defRPr>
            </a:pPr>
            <a:r>
              <a:rPr sz="1350" b="1">
                <a:solidFill>
                  <a:srgbClr val="EC7623"/>
                </a:solidFill>
                <a:latin typeface="Golos Text"/>
                <a:ea typeface="Golos Text"/>
                <a:cs typeface="Golos Text"/>
              </a:rPr>
              <a:t>Репозиторий подготовлен к воспроизведению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8ac3f19d54144"/>
          <a:stretch xmlns:a="http://schemas.openxmlformats.org/drawingml/2006/main"/>
        </p:blipFill>
        <p:spPr>
          <a:xfrm xmlns:a="http://schemas.openxmlformats.org/drawingml/2006/main">
            <a:off x="6388264" y="1162050"/>
            <a:ext cx="4273222" cy="46863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F70F7-09AB-4EE9-84D5-9CFA750B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90550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17C"/>
                </a:solidFill>
                <a:latin typeface="Golos Text"/>
                <a:ea typeface="Golos Text"/>
                <a:cs typeface="Golos Text"/>
              </a:defRPr>
            </a:pPr>
            <a:r>
              <a:rPr sz="1350" b="1">
                <a:solidFill>
                  <a:srgbClr val="66717C"/>
                </a:solidFill>
                <a:latin typeface="Golos Text"/>
                <a:ea typeface="Golos Text"/>
                <a:cs typeface="Golos Text"/>
              </a:rPr>
              <a:t>Пример: B1-DEV-010 LabSlot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0A39D-8E36-448D-9B3C-1E7A15BC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7222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defRPr>
            </a:pPr>
            <a:r>
              <a: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4947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96EAB-AE12-419C-9749-CE24C26D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33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2625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Ход решения: архитектура двух агентов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5922691cf4405"/>
          <a:stretch xmlns:a="http://schemas.openxmlformats.org/drawingml/2006/main"/>
        </p:blipFill>
        <p:spPr>
          <a:xfrm xmlns:a="http://schemas.openxmlformats.org/drawingml/2006/main">
            <a:off x="1885950" y="1143000"/>
            <a:ext cx="8382000" cy="47148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27356-396E-41F1-A295-4FB139E0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905500"/>
            <a:ext cx="10239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Golos Text"/>
                <a:ea typeface="Golos Text"/>
                <a:cs typeface="Golos Text"/>
              </a:defRPr>
            </a:pPr>
            <a:r>
              <a:rPr sz="1500" b="1">
                <a:solidFill>
                  <a:srgbClr val="171717"/>
                </a:solidFill>
                <a:latin typeface="Golos Text"/>
                <a:ea typeface="Golos Text"/>
                <a:cs typeface="Golos Text"/>
              </a:rPr>
              <a:t>SpecificationReq → Use Case Agent → Activity Diagram Agent → Mermaid → E2E trace validation → evaluator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5FA5C-B10A-4641-BC3E-7D0245B2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7222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defRPr>
            </a:pPr>
            <a:r>
              <a: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314128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115F4E-47DD-4135-ADED-DF4F6209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2325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Эксперимент и метрики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1629E-A92A-4ADA-83EC-B0EB063B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4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CBD6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04343-744C-4354-8EFA-EB3E4783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62075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867B0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725" b="1">
                <a:solidFill>
                  <a:srgbClr val="3867B0"/>
                </a:solidFill>
                <a:latin typeface="Golos Text SemiBold"/>
                <a:ea typeface="Golos Text SemiBold"/>
                <a:cs typeface="Golos Text SemiBold"/>
              </a:rPr>
              <a:t>Три одинаковых DEV-входа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90AAF-A4D1-47C4-8603-727FDA93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36207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1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DEV-002 simple RU · DEV-010 medium RU · DEV-020 hard 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1BC18-F5C2-4523-9DBB-4993AE92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28825"/>
            <a:ext cx="933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17C"/>
                </a:solidFill>
                <a:latin typeface="Golos Text"/>
                <a:ea typeface="Golos Text"/>
                <a:cs typeface="Golos Text"/>
              </a:defRPr>
            </a:pPr>
            <a:r>
              <a:rPr sz="1350" b="1">
                <a:solidFill>
                  <a:srgbClr val="66717C"/>
                </a:solidFill>
                <a:latin typeface="Golos Text"/>
                <a:ea typeface="Golos Text"/>
                <a:cs typeface="Golos Text"/>
              </a:rPr>
              <a:t>↓ одинаковые контракты, temperature=0 (детерминированный режим) и evaluator (оценщик) 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C31FF-1C87-4DFB-8921-A800BE65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808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8C3FE-0BEF-4141-B7B5-CE217201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7808B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575" b="1">
                <a:solidFill>
                  <a:srgbClr val="77808B"/>
                </a:solidFill>
                <a:latin typeface="Golos Text SemiBold"/>
                <a:ea typeface="Golos Text SemiBold"/>
                <a:cs typeface="Golos Text SemiBold"/>
              </a:rPr>
              <a:t>B0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145E9-662D-4C9C-ABA8-6ADC5E0B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52775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правила</a:t>
            </a:r>
          </a:p>
          <a:p xmlns:a="http://schemas.openxmlformats.org/drawingml/2006/main">
            <a:pPr algn="ctr">
              <a:def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0 вызовов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20A2F-E8C7-4935-8945-2159FA97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5908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76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BD5CB-CC5C-45CC-821A-13EC4461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781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C7623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575" b="1">
                <a:solidFill>
                  <a:srgbClr val="EC7623"/>
                </a:solidFill>
                <a:latin typeface="Golos Text SemiBold"/>
                <a:ea typeface="Golos Text SemiBold"/>
                <a:cs typeface="Golos Text SemiBold"/>
              </a:rPr>
              <a:t>B1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C145C-C389-4006-B50E-4E7AD82E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52775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1 запрос</a:t>
            </a:r>
          </a:p>
          <a:p xmlns:a="http://schemas.openxmlformats.org/drawingml/2006/main">
            <a:pPr algn="ctr">
              <a:def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без коррекции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A93B2-65C0-43BE-ACD8-2ED35124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908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987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BCE87-B8F6-430F-B96E-EC0AD0B1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81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9873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575" b="1">
                <a:solidFill>
                  <a:srgbClr val="169873"/>
                </a:solidFill>
                <a:latin typeface="Golos Text SemiBold"/>
                <a:ea typeface="Golos Text SemiBold"/>
                <a:cs typeface="Golos Text SemiBold"/>
              </a:rPr>
              <a:t>FULL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B5A72-0ABA-4199-BDED-05CBE43C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152775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2 агента</a:t>
            </a:r>
          </a:p>
          <a:p xmlns:a="http://schemas.openxmlformats.org/drawingml/2006/main">
            <a:pPr algn="ctr">
              <a:def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полный контур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A4943F-2083-4531-9C37-BAD92655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5908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867B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8CF8A-04D8-4BCA-8011-DFFEE0A3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781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867B0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575" b="1">
                <a:solidFill>
                  <a:srgbClr val="3867B0"/>
                </a:solidFill>
                <a:latin typeface="Golos Text SemiBold"/>
                <a:ea typeface="Golos Text SemiBold"/>
                <a:cs typeface="Golos Text SemiBold"/>
              </a:rPr>
              <a:t>NO CRITIC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509FCE-D162-44DC-A32B-BB066A25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52775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без смысловой</a:t>
            </a:r>
          </a:p>
          <a:p xmlns:a="http://schemas.openxmlformats.org/drawingml/2006/main">
            <a:pPr algn="ctr">
              <a:def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проверки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C679D-FEC9-44A0-A13B-53BD3119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908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4C7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D10FA-8EEE-4439-90A4-32CAD5DD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81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D4C70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575" b="1">
                <a:solidFill>
                  <a:srgbClr val="9D4C70"/>
                </a:solidFill>
                <a:latin typeface="Golos Text SemiBold"/>
                <a:ea typeface="Golos Text SemiBold"/>
                <a:cs typeface="Golos Text SemiBold"/>
              </a:rPr>
              <a:t>NO REPAIR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B65ED6-C22F-439D-B5A2-BD76896A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152775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0 попыток</a:t>
            </a:r>
          </a:p>
          <a:p xmlns:a="http://schemas.openxmlformats.org/drawingml/2006/main">
            <a:pPr algn="ctr">
              <a:def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35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исправления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4A3EE0-893A-4643-9231-429BC064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1957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800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Что измерялось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26C69B-F472-41F9-9F84-4B56FCD5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6005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E2E-успех · F1 акторов/UC/этапов/ветвлений/трассировки · неподтверждённые элементы · задержка · LLM-вызовы · токены · расчётная стоимость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8E9919-38C7-49EA-B8C7-6D92CD66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67350"/>
            <a:ext cx="10572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2BE9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AFD647-8836-431D-8593-B90DD8E9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C7623"/>
                </a:solidFill>
                <a:latin typeface="Golos Text"/>
                <a:ea typeface="Golos Text"/>
                <a:cs typeface="Golos Text"/>
              </a:defRPr>
            </a:pPr>
            <a:r>
              <a:rPr sz="1350" b="1">
                <a:solidFill>
                  <a:srgbClr val="EC7623"/>
                </a:solidFill>
                <a:latin typeface="Golos Text"/>
                <a:ea typeface="Golos Text"/>
                <a:cs typeface="Golos Text"/>
              </a:rPr>
              <a:t>Три уровня сложности · общий контракт · ошибки остаются в выборке · отдельный внешний протокол GPT/Claude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9A8E59-9A37-46E1-8672-18E1E929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7222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defRPr>
            </a:pPr>
            <a:r>
              <a: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042358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58652-E582-4A1B-8536-D33EF6E3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33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2625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Основные результаты: пять конфигураций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19100" y="1219200"/>
          <a:ext xmlns:a="http://schemas.openxmlformats.org/drawingml/2006/main" cx="733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63f3e2052a4ebc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2C6A7-5FCA-4514-8623-B95B8AF2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295400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725" b="1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Цена одного запуска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721BD-62F6-4ED2-8829-2477853C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76212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7808B"/>
                </a:solidFill>
                <a:latin typeface="Golos Text"/>
                <a:ea typeface="Golos Text"/>
                <a:cs typeface="Golos Text"/>
              </a:defRPr>
            </a:pPr>
            <a:r>
              <a:rPr sz="1275" b="1">
                <a:solidFill>
                  <a:srgbClr val="77808B"/>
                </a:solidFill>
                <a:latin typeface="Golos Text"/>
                <a:ea typeface="Golos Text"/>
                <a:cs typeface="Golos Text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F06EE-265D-4117-B064-7F053D49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62125"/>
            <a:ext cx="2209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27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0 ток. · $0.0000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9CCF3-23F4-4614-890D-6E339763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286000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C7623"/>
                </a:solidFill>
                <a:latin typeface="Golos Text"/>
                <a:ea typeface="Golos Text"/>
                <a:cs typeface="Golos Text"/>
              </a:defRPr>
            </a:pPr>
            <a:r>
              <a:rPr sz="1275" b="1">
                <a:solidFill>
                  <a:srgbClr val="EC7623"/>
                </a:solidFill>
                <a:latin typeface="Golos Text"/>
                <a:ea typeface="Golos Text"/>
                <a:cs typeface="Golos Text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989EC-243B-40EB-AB62-0EA5382C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86000"/>
            <a:ext cx="2209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27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10 358 ток. · $0.0046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360AE-F15A-4F2E-9A27-840C6170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8098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9873"/>
                </a:solidFill>
                <a:latin typeface="Golos Text"/>
                <a:ea typeface="Golos Text"/>
                <a:cs typeface="Golos Text"/>
              </a:defRPr>
            </a:pPr>
            <a:r>
              <a:rPr sz="1275" b="1">
                <a:solidFill>
                  <a:srgbClr val="169873"/>
                </a:solidFill>
                <a:latin typeface="Golos Text"/>
                <a:ea typeface="Golos Text"/>
                <a:cs typeface="Golos Text"/>
              </a:rPr>
              <a:t>FULL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AC43D-D127-4D86-9B17-457F17D5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09875"/>
            <a:ext cx="2209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27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52 947 ток. · $0.0294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1C64F-5928-4785-8EAE-C259E348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333750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67B0"/>
                </a:solidFill>
                <a:latin typeface="Golos Text"/>
                <a:ea typeface="Golos Text"/>
                <a:cs typeface="Golos Text"/>
              </a:defRPr>
            </a:pPr>
            <a:r>
              <a:rPr sz="1275" b="1">
                <a:solidFill>
                  <a:srgbClr val="3867B0"/>
                </a:solidFill>
                <a:latin typeface="Golos Text"/>
                <a:ea typeface="Golos Text"/>
                <a:cs typeface="Golos Text"/>
              </a:rPr>
              <a:t>без критика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C9637-1875-4D5A-A1E4-92083581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33750"/>
            <a:ext cx="2209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27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37 011 ток. · $0.0238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E1AD7-A413-4DB6-87E0-2DAE4F45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85762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D4C70"/>
                </a:solidFill>
                <a:latin typeface="Golos Text"/>
                <a:ea typeface="Golos Text"/>
                <a:cs typeface="Golos Text"/>
              </a:defRPr>
            </a:pPr>
            <a:r>
              <a:rPr sz="1275" b="1">
                <a:solidFill>
                  <a:srgbClr val="9D4C70"/>
                </a:solidFill>
                <a:latin typeface="Golos Text"/>
                <a:ea typeface="Golos Text"/>
                <a:cs typeface="Golos Text"/>
              </a:rPr>
              <a:t>без исправления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C09FD-4A1A-412E-9EF0-F92DB574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57625"/>
            <a:ext cx="2209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27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9 380 ток. · $0.0065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992F2-5F6B-45EC-9968-86D0E8F1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514850"/>
            <a:ext cx="3590925" cy="103822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2BE9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5B92B-28E8-40AC-B37A-A393DA89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767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C7623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500" b="1">
                <a:solidFill>
                  <a:srgbClr val="EC7623"/>
                </a:solidFill>
                <a:latin typeface="Golos Text SemiBold"/>
                <a:ea typeface="Golos Text SemiBold"/>
                <a:cs typeface="Golos Text SemiBold"/>
              </a:rPr>
              <a:t>Главный вывод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0BAF8-4E4A-4CBC-8ABC-DF61EBB2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19675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27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Без исправления: 0/3 E2E. FULL: 3/3, но дороже.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4E9ED-191D-4B21-AFB9-594B2816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829300"/>
            <a:ext cx="1038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17C"/>
                </a:solidFill>
                <a:latin typeface="Golos Text"/>
                <a:ea typeface="Golos Text"/>
                <a:cs typeface="Golos Text"/>
              </a:defRPr>
            </a:pPr>
            <a:r>
              <a:rPr sz="1425" b="0">
                <a:solidFill>
                  <a:srgbClr val="66717C"/>
                </a:solidFill>
                <a:latin typeface="Golos Text"/>
                <a:ea typeface="Golos Text"/>
                <a:cs typeface="Golos Text"/>
              </a:rPr>
              <a:t>3 DEV-кейса · 1 запуск на кейс · hidden не использовался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92021-BBA4-4674-B373-6F7A3FC2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7222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defRPr>
            </a:pPr>
            <a:r>
              <a: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513592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CE9C4-877E-4BD8-844B-8277AA3C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33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2625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Разбор компонента: критик до и после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400050" y="1285875"/>
          <a:ext xmlns:a="http://schemas.openxmlformats.org/drawingml/2006/main" cx="6238875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063f00ea734599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E7700-27E4-48E7-A743-4DF29C40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3430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474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650" b="1">
                <a:solidFill>
                  <a:srgbClr val="C94747"/>
                </a:solidFill>
                <a:latin typeface="Golos Text SemiBold"/>
                <a:ea typeface="Golos Text SemiBold"/>
                <a:cs typeface="Golos Text SemiBold"/>
              </a:rPr>
              <a:t>Проблема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ED79E-BFBD-4256-BDE1-1F13407B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04975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Критик мог вводить новый критерий после каждого исправления и исчерпывал лимит.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B48C3-79DE-462A-A19B-6F63DD6C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47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9873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650" b="1">
                <a:solidFill>
                  <a:srgbClr val="169873"/>
                </a:solidFill>
                <a:latin typeface="Golos Text SemiBold"/>
                <a:ea typeface="Golos Text SemiBold"/>
                <a:cs typeface="Golos Text SemiBold"/>
              </a:rPr>
              <a:t>Исправление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3C922-9345-483B-BD7A-001D1ECF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0990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Блокирующее замечание обязано ссылаться на конкретный FR/step и элемент модели; стиль не блокирует.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8A407-38F5-45D3-8049-38487B4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243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C7623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650" b="1">
                <a:solidFill>
                  <a:srgbClr val="EC7623"/>
                </a:solidFill>
                <a:latin typeface="Golos Text SemiBold"/>
                <a:ea typeface="Golos Text SemiBold"/>
                <a:cs typeface="Golos Text SemiBold"/>
              </a:rPr>
              <a:t>Цена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B5F51-8B47-455E-8540-B521003D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86275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1/3 → 3/3 E2E, но 41 636 → 52 947 токенов и $0.0239 → $0.0294.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44749-EE90-46F1-BE90-F39ADE2E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81625"/>
            <a:ext cx="10477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64271-A5E6-4BB3-8BAE-55F6E564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350" b="1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Вывод: критик должен ссылаться на конкретный FR и элемент модели. Свободное второе мнение снижало E2E.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CB46F-36BC-4CE5-8EDF-1DE3F86F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7222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defRPr>
            </a:pPr>
            <a:r>
              <a: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195907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3AB1B-9D88-4931-AC4B-61A17331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33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2775" b="0">
                <a:solidFill>
                  <a:srgbClr val="171717"/>
                </a:solidFill>
                <a:latin typeface="Golos Text SemiBold"/>
                <a:ea typeface="Golos Text SemiBold"/>
                <a:cs typeface="Golos Text SemiBold"/>
              </a:rPr>
              <a:t>Итог изменений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AAACB-7ACA-4D44-9FDC-FC2C8D1F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9873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875" b="1">
                <a:solidFill>
                  <a:srgbClr val="169873"/>
                </a:solidFill>
                <a:latin typeface="Golos Text SemiBold"/>
                <a:ea typeface="Golos Text SemiBold"/>
                <a:cs typeface="Golos Text SemiBold"/>
              </a:rPr>
              <a:t>Что подтверждено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3C319-5DC4-4241-B3B2-F8061CB0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✓ Два агента и root orchestrator работают end-to-end.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042EA-2A07-4588-B313-42A0CBC2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24075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✓ 30 входов: DEV20 / hidden10; hidden запечатан.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89D98-B462-4267-A979-0C3928DA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✓ 57 тестов; 15/15 подготовленных мутаций обнаружено.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B968D-21DB-470D-BCED-AC05FD74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✓ B0 DEV20 × 3: 60/60, 0 токенов, stability 1.0.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8F100-582A-4F62-BCF9-71B81D5A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✓ Прямой DEV-пилот показал пользу повторного исправления.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7B4BA-398A-4D68-9CA5-AAA06F70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00150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67B0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875" b="1">
                <a:solidFill>
                  <a:srgbClr val="3867B0"/>
                </a:solidFill>
                <a:latin typeface="Golos Text SemiBold"/>
                <a:ea typeface="Golos Text SemiBold"/>
                <a:cs typeface="Golos Text SemiBold"/>
              </a:rPr>
              <a:t>Почему текущая версия сильнее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EDAC3-6B6C-4F83-8FDE-8D3A7969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287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✓ Граница задачи определена до появления кода.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92DD7-F3EE-41EA-870C-64A6C18C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240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✓ Каждый артефакт имеет строгий контракт.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834E9-510C-4D39-BD01-4EA7DDC8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193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✓ Трассировка связывает FR, UC, шаг, узел и ребро.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3C725-185F-4226-A888-774A5C5E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146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✓ Пять конфигураций сравниваются одинаково.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DEEB4-126B-4F81-A0E9-03B23D93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099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425" b="0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✓ Для GPT и Claude подготовлен единый протокол.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77B9D-6BEC-422F-BA51-0EAAFFCA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10477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0F9"/>
          </a:solidFill>
          <a:ln xmlns:a="http://schemas.openxmlformats.org/drawingml/2006/main" w="9525">
            <a:solidFill>
              <a:srgbClr val="A8BDD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56FA1-98DC-4201-B409-3FACBBB1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434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867B0"/>
                </a:solidFill>
                <a:latin typeface="Golos Text SemiBold"/>
                <a:ea typeface="Golos Text SemiBold"/>
                <a:cs typeface="Golos Text SemiBold"/>
              </a:defRPr>
            </a:pPr>
            <a:r>
              <a:rPr sz="1725" b="1">
                <a:solidFill>
                  <a:srgbClr val="3867B0"/>
                </a:solidFill>
                <a:latin typeface="Golos Text SemiBold"/>
                <a:ea typeface="Golos Text SemiBold"/>
                <a:cs typeface="Golos Text SemiBold"/>
              </a:rPr>
              <a:t>Практическая ценность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CE79F-C075-4B6B-BF14-DE6949C6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114925"/>
            <a:ext cx="9934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313A"/>
                </a:solidFill>
                <a:latin typeface="Golos Text"/>
                <a:ea typeface="Golos Text"/>
                <a:cs typeface="Golos Text"/>
              </a:defRPr>
            </a:pPr>
            <a:r>
              <a:rPr sz="1500" b="1">
                <a:solidFill>
                  <a:srgbClr val="27313A"/>
                </a:solidFill>
                <a:latin typeface="Golos Text"/>
                <a:ea typeface="Golos Text"/>
                <a:cs typeface="Golos Text"/>
              </a:rPr>
              <a:t>Система сокращает ручное построение сценарных диаграмм и создаёт проверяемый вход для обсуждения архитектуры, декомпозиции разработки и последующей проверки реализации.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94D3A4-333E-4605-8FB1-6CD566DA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7222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defRPr>
            </a:pPr>
            <a:r>
              <a:rPr sz="1200" b="0">
                <a:solidFill>
                  <a:srgbClr val="66717C"/>
                </a:solidFill>
                <a:latin typeface="Golos Text"/>
                <a:ea typeface="Golos Text"/>
                <a:cs typeface="Golos T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2546515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C93BF-BF4B-43A6-9653-4004823E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451740"/>
      </p:ext>
    </p:extLst>
  </p:cSld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Microsoft Office PowerPoint</ap:Application>
  <ap:PresentationFormat>On-screen Show (16:9)</ap:PresentationFormat>
  <ap:Slides>13</ap:Slides>
  <ap:Notes>13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Боцман Артем</dc:creator>
  <lastModifiedBy>Боцман Артем</lastModifiedBy>
  <dc:title>AgentLangGraph: генерация трассируемых activity-диаграмм</dc:title>
  <dcterms:created xsi:type="dcterms:W3CDTF">2026-09-11T12:57:02.7780000Z</dcterms:created>
  <dcterms:modified xsi:type="dcterms:W3CDTF">2026-09-11T12:57:02.7780000Z</dcterms:modified>
</coreProperties>
</file>