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79" r:id="rId3"/>
    <p:sldId id="285" r:id="rId4"/>
    <p:sldId id="294" r:id="rId5"/>
    <p:sldId id="259" r:id="rId6"/>
    <p:sldId id="295" r:id="rId7"/>
    <p:sldId id="296" r:id="rId8"/>
    <p:sldId id="260" r:id="rId9"/>
    <p:sldId id="293" r:id="rId10"/>
    <p:sldId id="262" r:id="rId11"/>
    <p:sldId id="291" r:id="rId12"/>
    <p:sldId id="297" r:id="rId13"/>
    <p:sldId id="298" r:id="rId14"/>
    <p:sldId id="299" r:id="rId15"/>
    <p:sldId id="306" r:id="rId16"/>
    <p:sldId id="301" r:id="rId17"/>
    <p:sldId id="307" r:id="rId18"/>
    <p:sldId id="278" r:id="rId19"/>
    <p:sldId id="309" r:id="rId20"/>
    <p:sldId id="311" r:id="rId21"/>
    <p:sldId id="266" r:id="rId22"/>
    <p:sldId id="267" r:id="rId23"/>
    <p:sldId id="308" r:id="rId24"/>
    <p:sldId id="268" r:id="rId25"/>
    <p:sldId id="312" r:id="rId26"/>
    <p:sldId id="269" r:id="rId27"/>
    <p:sldId id="304" r:id="rId28"/>
    <p:sldId id="310" r:id="rId29"/>
    <p:sldId id="305" r:id="rId30"/>
    <p:sldId id="275" r:id="rId31"/>
    <p:sldId id="277" r:id="rId32"/>
    <p:sldId id="281" r:id="rId33"/>
    <p:sldId id="283" r:id="rId34"/>
    <p:sldId id="284" r:id="rId35"/>
  </p:sldIdLst>
  <p:sldSz cx="12192000" cy="6858000"/>
  <p:notesSz cx="6858000" cy="9144000"/>
  <p:embeddedFontLst>
    <p:embeddedFont>
      <p:font typeface="Golos Text" panose="020B0503020202020204"/>
      <p:regular r:id="rId37"/>
      <p:bold r:id="rId38"/>
    </p:embeddedFont>
    <p:embeddedFont>
      <p:font typeface="Golos Text SemiBold" panose="020B0503020202020204"/>
      <p:regular r:id="rId39"/>
      <p:bold r:id="rId40"/>
    </p:embeddedFont>
    <p:embeddedFont>
      <p:font typeface="Montserrat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i1+tyP6Ed/rtcn716kpTxRjYrc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326521-B79D-460C-ACCF-49D8F5FA4728}">
  <a:tblStyle styleId="{9F326521-B79D-460C-ACCF-49D8F5FA47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/>
    <p:restoredTop sz="94681"/>
  </p:normalViewPr>
  <p:slideViewPr>
    <p:cSldViewPr snapToGrid="0">
      <p:cViewPr>
        <p:scale>
          <a:sx n="56" d="100"/>
          <a:sy n="56" d="100"/>
        </p:scale>
        <p:origin x="2744" y="13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91f1587c4c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g391f1587c4c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59921F9A-AA0D-DF48-5521-9698E47B8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E40A9919-14F7-FDDC-A64B-923010442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>
            <a:extLst>
              <a:ext uri="{FF2B5EF4-FFF2-40B4-BE49-F238E27FC236}">
                <a16:creationId xmlns:a16="http://schemas.microsoft.com/office/drawing/2014/main" id="{FABD8F35-BDF9-3C78-DF56-DD37DFE67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9098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>
          <a:extLst>
            <a:ext uri="{FF2B5EF4-FFF2-40B4-BE49-F238E27FC236}">
              <a16:creationId xmlns:a16="http://schemas.microsoft.com/office/drawing/2014/main" id="{DCA0C7B2-8AFE-6167-95B7-C6F0558B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>
            <a:extLst>
              <a:ext uri="{FF2B5EF4-FFF2-40B4-BE49-F238E27FC236}">
                <a16:creationId xmlns:a16="http://schemas.microsoft.com/office/drawing/2014/main" id="{8313E751-B494-F714-171B-8F02DC9B5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:notes">
            <a:extLst>
              <a:ext uri="{FF2B5EF4-FFF2-40B4-BE49-F238E27FC236}">
                <a16:creationId xmlns:a16="http://schemas.microsoft.com/office/drawing/2014/main" id="{5DE52006-12A7-ECC1-0103-6D3DABB953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4899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967F1F96-130F-0F01-170E-60DD5AC6D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C049F48F-5138-2997-1146-510C80231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DA1AB158-BFD7-3FD8-6683-CA039820C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6531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7A1970F6-017A-67F1-1DA2-8EB6F407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957EB408-14F4-7B13-4527-DCD8C90D30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FD2F7372-2A4C-C6E9-029E-05F9F8EEB4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6168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DE4DEB0A-7279-951C-39D6-6FB93D4A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AC089992-4CA7-EC44-6C09-62873EC57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EF8B6AA3-9A7B-F3F6-4720-AC39011BFD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3099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16FEDDB-1D77-CC39-CE85-B3568CAE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>
            <a:extLst>
              <a:ext uri="{FF2B5EF4-FFF2-40B4-BE49-F238E27FC236}">
                <a16:creationId xmlns:a16="http://schemas.microsoft.com/office/drawing/2014/main" id="{FD8A5D52-7944-A21E-7F3F-9379AB4CC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:notes">
            <a:extLst>
              <a:ext uri="{FF2B5EF4-FFF2-40B4-BE49-F238E27FC236}">
                <a16:creationId xmlns:a16="http://schemas.microsoft.com/office/drawing/2014/main" id="{78BA6176-E959-5977-A97C-E575029455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96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22317FB9-3F92-389E-5B4A-2B23B5C9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>
            <a:extLst>
              <a:ext uri="{FF2B5EF4-FFF2-40B4-BE49-F238E27FC236}">
                <a16:creationId xmlns:a16="http://schemas.microsoft.com/office/drawing/2014/main" id="{F1E9245D-4D16-760C-3420-EE57E2E979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:notes">
            <a:extLst>
              <a:ext uri="{FF2B5EF4-FFF2-40B4-BE49-F238E27FC236}">
                <a16:creationId xmlns:a16="http://schemas.microsoft.com/office/drawing/2014/main" id="{1558659E-BEA8-94ED-28CA-64EA81C70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1521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AB254EC-00BB-6CC5-7672-2A337CFB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>
            <a:extLst>
              <a:ext uri="{FF2B5EF4-FFF2-40B4-BE49-F238E27FC236}">
                <a16:creationId xmlns:a16="http://schemas.microsoft.com/office/drawing/2014/main" id="{1195FD85-D481-0A32-7D83-708E3E5C73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:notes">
            <a:extLst>
              <a:ext uri="{FF2B5EF4-FFF2-40B4-BE49-F238E27FC236}">
                <a16:creationId xmlns:a16="http://schemas.microsoft.com/office/drawing/2014/main" id="{915549D1-F3E3-DF67-C85B-0404E6718A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0260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7B0BEE2C-E067-4F2A-0345-BED74F4ED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>
            <a:extLst>
              <a:ext uri="{FF2B5EF4-FFF2-40B4-BE49-F238E27FC236}">
                <a16:creationId xmlns:a16="http://schemas.microsoft.com/office/drawing/2014/main" id="{2AD774C1-8D26-3B7A-4917-958139278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:notes">
            <a:extLst>
              <a:ext uri="{FF2B5EF4-FFF2-40B4-BE49-F238E27FC236}">
                <a16:creationId xmlns:a16="http://schemas.microsoft.com/office/drawing/2014/main" id="{46746B69-88B1-FE4D-EAE9-D2EEEB0A4A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8012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C191E95-91A2-07E7-C143-78DD4F89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>
            <a:extLst>
              <a:ext uri="{FF2B5EF4-FFF2-40B4-BE49-F238E27FC236}">
                <a16:creationId xmlns:a16="http://schemas.microsoft.com/office/drawing/2014/main" id="{8908B982-D4C4-6CCB-A369-D71399EB09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:notes">
            <a:extLst>
              <a:ext uri="{FF2B5EF4-FFF2-40B4-BE49-F238E27FC236}">
                <a16:creationId xmlns:a16="http://schemas.microsoft.com/office/drawing/2014/main" id="{4D904F8E-A6CE-49CA-E8F7-1A8397D5E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0724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89ECE5E5-391A-28FE-30AC-0E7D44B32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>
            <a:extLst>
              <a:ext uri="{FF2B5EF4-FFF2-40B4-BE49-F238E27FC236}">
                <a16:creationId xmlns:a16="http://schemas.microsoft.com/office/drawing/2014/main" id="{AE172EDF-F619-FE3B-2132-A2AAFE599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:notes">
            <a:extLst>
              <a:ext uri="{FF2B5EF4-FFF2-40B4-BE49-F238E27FC236}">
                <a16:creationId xmlns:a16="http://schemas.microsoft.com/office/drawing/2014/main" id="{B30ADBD8-982A-C628-1395-70CFEF273E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9166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FE82CED-C408-3903-E550-9CF0FA36E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>
            <a:extLst>
              <a:ext uri="{FF2B5EF4-FFF2-40B4-BE49-F238E27FC236}">
                <a16:creationId xmlns:a16="http://schemas.microsoft.com/office/drawing/2014/main" id="{9082B3A6-7F20-7C03-B529-FDFC52661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:notes">
            <a:extLst>
              <a:ext uri="{FF2B5EF4-FFF2-40B4-BE49-F238E27FC236}">
                <a16:creationId xmlns:a16="http://schemas.microsoft.com/office/drawing/2014/main" id="{41259D34-021E-7342-81B4-EF33B4B813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22552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82DFC50-7C17-84B7-A578-9F452597E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>
            <a:extLst>
              <a:ext uri="{FF2B5EF4-FFF2-40B4-BE49-F238E27FC236}">
                <a16:creationId xmlns:a16="http://schemas.microsoft.com/office/drawing/2014/main" id="{97DBB51A-B079-386A-F769-1ABDEB3ED8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:notes">
            <a:extLst>
              <a:ext uri="{FF2B5EF4-FFF2-40B4-BE49-F238E27FC236}">
                <a16:creationId xmlns:a16="http://schemas.microsoft.com/office/drawing/2014/main" id="{A0EDACAE-2C52-31CA-4101-C4A5FC5258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71514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BE2B5651-013F-5195-76A6-EFCD8E8BB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>
            <a:extLst>
              <a:ext uri="{FF2B5EF4-FFF2-40B4-BE49-F238E27FC236}">
                <a16:creationId xmlns:a16="http://schemas.microsoft.com/office/drawing/2014/main" id="{ED6376CC-16C9-6BEB-2647-FBD681924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:notes">
            <a:extLst>
              <a:ext uri="{FF2B5EF4-FFF2-40B4-BE49-F238E27FC236}">
                <a16:creationId xmlns:a16="http://schemas.microsoft.com/office/drawing/2014/main" id="{068842F9-739D-1784-63CE-E5A087BFC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50102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B8E82D7-9232-5FCA-4AF6-69EA8811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>
            <a:extLst>
              <a:ext uri="{FF2B5EF4-FFF2-40B4-BE49-F238E27FC236}">
                <a16:creationId xmlns:a16="http://schemas.microsoft.com/office/drawing/2014/main" id="{E734F074-AE9C-24E1-614B-2FCB08839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:notes">
            <a:extLst>
              <a:ext uri="{FF2B5EF4-FFF2-40B4-BE49-F238E27FC236}">
                <a16:creationId xmlns:a16="http://schemas.microsoft.com/office/drawing/2014/main" id="{AC0D064B-48F8-2FC3-AF56-E1DD3988A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19832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B8C66AE-DA8F-BCB6-6C19-2074F26C3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>
            <a:extLst>
              <a:ext uri="{FF2B5EF4-FFF2-40B4-BE49-F238E27FC236}">
                <a16:creationId xmlns:a16="http://schemas.microsoft.com/office/drawing/2014/main" id="{C8D406D4-0F42-430E-5B6A-0D59D67AE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:notes">
            <a:extLst>
              <a:ext uri="{FF2B5EF4-FFF2-40B4-BE49-F238E27FC236}">
                <a16:creationId xmlns:a16="http://schemas.microsoft.com/office/drawing/2014/main" id="{A106D483-C07E-3004-B747-A178CEF51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6082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C364A51-F9FE-9D2C-E0B6-AE2DFFD5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>
            <a:extLst>
              <a:ext uri="{FF2B5EF4-FFF2-40B4-BE49-F238E27FC236}">
                <a16:creationId xmlns:a16="http://schemas.microsoft.com/office/drawing/2014/main" id="{F50298C0-8CF4-4A1B-B32B-64AFA8FC7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:notes">
            <a:extLst>
              <a:ext uri="{FF2B5EF4-FFF2-40B4-BE49-F238E27FC236}">
                <a16:creationId xmlns:a16="http://schemas.microsoft.com/office/drawing/2014/main" id="{FC51F280-80E3-59AF-7C0A-026DB93DA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45993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805A309D-8D21-2FA5-C5E8-BAAA73D9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>
            <a:extLst>
              <a:ext uri="{FF2B5EF4-FFF2-40B4-BE49-F238E27FC236}">
                <a16:creationId xmlns:a16="http://schemas.microsoft.com/office/drawing/2014/main" id="{8F499E45-04F6-CA4E-5C58-7E771F7A5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2:notes">
            <a:extLst>
              <a:ext uri="{FF2B5EF4-FFF2-40B4-BE49-F238E27FC236}">
                <a16:creationId xmlns:a16="http://schemas.microsoft.com/office/drawing/2014/main" id="{062EF5D2-4067-C160-EEB5-C8DF60BCFB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65859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FD17683-E5B2-6A6B-CEA5-13293BF8D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>
            <a:extLst>
              <a:ext uri="{FF2B5EF4-FFF2-40B4-BE49-F238E27FC236}">
                <a16:creationId xmlns:a16="http://schemas.microsoft.com/office/drawing/2014/main" id="{AC4DBE5A-2673-FB8A-720E-D873060A5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2:notes">
            <a:extLst>
              <a:ext uri="{FF2B5EF4-FFF2-40B4-BE49-F238E27FC236}">
                <a16:creationId xmlns:a16="http://schemas.microsoft.com/office/drawing/2014/main" id="{A696B2BF-0116-D0A8-A711-802E6C3F48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31616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401FC99-1C6C-53AF-B0CE-B7F2031AB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>
            <a:extLst>
              <a:ext uri="{FF2B5EF4-FFF2-40B4-BE49-F238E27FC236}">
                <a16:creationId xmlns:a16="http://schemas.microsoft.com/office/drawing/2014/main" id="{98822F6D-D200-8584-FF60-AB33BBD47D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2:notes">
            <a:extLst>
              <a:ext uri="{FF2B5EF4-FFF2-40B4-BE49-F238E27FC236}">
                <a16:creationId xmlns:a16="http://schemas.microsoft.com/office/drawing/2014/main" id="{C7EE8AB6-0421-B4F7-0F1E-2A381FEE4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044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EB2423C7-3F99-2EAB-3612-A055F63A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>
            <a:extLst>
              <a:ext uri="{FF2B5EF4-FFF2-40B4-BE49-F238E27FC236}">
                <a16:creationId xmlns:a16="http://schemas.microsoft.com/office/drawing/2014/main" id="{7269F7EA-52F7-C004-5587-8613F8E8A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2:notes">
            <a:extLst>
              <a:ext uri="{FF2B5EF4-FFF2-40B4-BE49-F238E27FC236}">
                <a16:creationId xmlns:a16="http://schemas.microsoft.com/office/drawing/2014/main" id="{B428089E-106E-281C-6FAC-AF2F97387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53835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5BB1917-583B-6D02-2F11-730158A8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>
            <a:extLst>
              <a:ext uri="{FF2B5EF4-FFF2-40B4-BE49-F238E27FC236}">
                <a16:creationId xmlns:a16="http://schemas.microsoft.com/office/drawing/2014/main" id="{5F2EFF64-B369-603C-5EB1-96797231D3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:notes">
            <a:extLst>
              <a:ext uri="{FF2B5EF4-FFF2-40B4-BE49-F238E27FC236}">
                <a16:creationId xmlns:a16="http://schemas.microsoft.com/office/drawing/2014/main" id="{CB6C2A28-F21C-0E08-E166-CF87BCC8C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87750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7F7C1B8-21DB-A95F-43DB-D2DB5D3F8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>
            <a:extLst>
              <a:ext uri="{FF2B5EF4-FFF2-40B4-BE49-F238E27FC236}">
                <a16:creationId xmlns:a16="http://schemas.microsoft.com/office/drawing/2014/main" id="{37B9907D-A2B8-1986-96D2-4910D35A6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:notes">
            <a:extLst>
              <a:ext uri="{FF2B5EF4-FFF2-40B4-BE49-F238E27FC236}">
                <a16:creationId xmlns:a16="http://schemas.microsoft.com/office/drawing/2014/main" id="{CA53E7BF-8DFA-E667-182C-69D078CC85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22023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E48FCC8-94D5-7482-53F3-0229367AA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>
            <a:extLst>
              <a:ext uri="{FF2B5EF4-FFF2-40B4-BE49-F238E27FC236}">
                <a16:creationId xmlns:a16="http://schemas.microsoft.com/office/drawing/2014/main" id="{376B2546-3AFF-A7B9-F034-3647C5FC6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:notes">
            <a:extLst>
              <a:ext uri="{FF2B5EF4-FFF2-40B4-BE49-F238E27FC236}">
                <a16:creationId xmlns:a16="http://schemas.microsoft.com/office/drawing/2014/main" id="{E55DFBF6-F202-7FEC-7674-EBD9C53E4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36194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40C91C4-FC41-FC67-0FF9-9FAE44CA5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>
            <a:extLst>
              <a:ext uri="{FF2B5EF4-FFF2-40B4-BE49-F238E27FC236}">
                <a16:creationId xmlns:a16="http://schemas.microsoft.com/office/drawing/2014/main" id="{03B1CA36-73B3-DBDF-1416-9C46B054A5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:notes">
            <a:extLst>
              <a:ext uri="{FF2B5EF4-FFF2-40B4-BE49-F238E27FC236}">
                <a16:creationId xmlns:a16="http://schemas.microsoft.com/office/drawing/2014/main" id="{BE7D7224-9553-20D4-5A89-FDCA9F0E8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83591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2F783BF-CEBB-0C3B-5BF2-73CA0676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>
            <a:extLst>
              <a:ext uri="{FF2B5EF4-FFF2-40B4-BE49-F238E27FC236}">
                <a16:creationId xmlns:a16="http://schemas.microsoft.com/office/drawing/2014/main" id="{2254DBED-DD50-301E-42F8-B21E64DCA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:notes">
            <a:extLst>
              <a:ext uri="{FF2B5EF4-FFF2-40B4-BE49-F238E27FC236}">
                <a16:creationId xmlns:a16="http://schemas.microsoft.com/office/drawing/2014/main" id="{9E1B39B3-36B6-740B-4E11-B20A9C854D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7338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1524000" y="2490281"/>
            <a:ext cx="9144000" cy="147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  <a:defRPr sz="24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5805890" y="4175394"/>
            <a:ext cx="5871990" cy="227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7"/>
          <p:cNvSpPr txBox="1"/>
          <p:nvPr/>
        </p:nvSpPr>
        <p:spPr>
          <a:xfrm>
            <a:off x="1524000" y="12308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olos Text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01.04.02 </a:t>
            </a:r>
            <a:r>
              <a:rPr lang="ru-RU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Прикладная математика и информатика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dt" idx="10"/>
          </p:nvPr>
        </p:nvSpPr>
        <p:spPr>
          <a:xfrm>
            <a:off x="42153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лайд">
  <p:cSld name="Финальный слайд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/>
        </p:nvSpPr>
        <p:spPr>
          <a:xfrm>
            <a:off x="1981200" y="22590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os Text SemiBold"/>
              <a:buNone/>
            </a:pPr>
            <a:r>
              <a:rPr lang="ru-RU" sz="6000" b="1" i="0" u="none" strike="noStrik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Спасибо</a:t>
            </a:r>
            <a:br>
              <a:rPr lang="ru-RU" sz="6000" b="1" i="0" u="none" strike="noStrik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</a:br>
            <a:r>
              <a:rPr lang="ru-RU" sz="6000" b="1" i="0" u="none" strike="noStrik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за внимание!</a:t>
            </a:r>
            <a:endParaRPr sz="6000" b="1" i="0" u="none" strike="noStrike" cap="none">
              <a:solidFill>
                <a:srgbClr val="FFFFF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91f1587c4c_0_394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91f1587c4c_0_394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1f1587c4c_0_394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91f1587c4c_0_394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91f1587c4c_0_394"/>
          <p:cNvSpPr txBox="1">
            <a:spLocks noGrp="1"/>
          </p:cNvSpPr>
          <p:nvPr>
            <p:ph type="title"/>
          </p:nvPr>
        </p:nvSpPr>
        <p:spPr>
          <a:xfrm>
            <a:off x="609600" y="408580"/>
            <a:ext cx="90993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Golos Text SemiBold"/>
              <a:buNone/>
              <a:defRPr sz="43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91f1587c4c_0_394"/>
          <p:cNvSpPr txBox="1">
            <a:spLocks noGrp="1"/>
          </p:cNvSpPr>
          <p:nvPr>
            <p:ph type="body" idx="1"/>
          </p:nvPr>
        </p:nvSpPr>
        <p:spPr>
          <a:xfrm>
            <a:off x="609599" y="1386883"/>
            <a:ext cx="11185500" cy="4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marL="2743200" lvl="5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91f1587c4c_0_265"/>
          <p:cNvSpPr txBox="1"/>
          <p:nvPr/>
        </p:nvSpPr>
        <p:spPr>
          <a:xfrm>
            <a:off x="1375350" y="843036"/>
            <a:ext cx="94413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  <a:latin typeface="Golos Text"/>
                <a:ea typeface="Golos Text"/>
                <a:cs typeface="Golos Text"/>
                <a:sym typeface="Golos Text"/>
              </a:rPr>
              <a:t>01.04.02 </a:t>
            </a:r>
            <a:r>
              <a:rPr lang="ru-RU" dirty="0">
                <a:solidFill>
                  <a:schemeClr val="lt2"/>
                </a:solidFill>
                <a:latin typeface="Golos Text"/>
                <a:ea typeface="Golos Text"/>
                <a:cs typeface="Golos Text"/>
                <a:sym typeface="Golos Text"/>
              </a:rPr>
              <a:t>Прикладная математика и информатика</a:t>
            </a:r>
            <a:endParaRPr dirty="0">
              <a:solidFill>
                <a:schemeClr val="lt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0" name="Google Shape;40;g391f1587c4c_0_265"/>
          <p:cNvSpPr txBox="1">
            <a:spLocks noGrp="1"/>
          </p:cNvSpPr>
          <p:nvPr>
            <p:ph type="ctrTitle" idx="4294967295"/>
          </p:nvPr>
        </p:nvSpPr>
        <p:spPr>
          <a:xfrm>
            <a:off x="1524000" y="2490281"/>
            <a:ext cx="91440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Трассируемый </a:t>
            </a:r>
            <a:r>
              <a:rPr lang="ru-RU" b="1" dirty="0" err="1">
                <a:solidFill>
                  <a:schemeClr val="bg1"/>
                </a:solidFill>
              </a:rPr>
              <a:t>агентный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пайплайн</a:t>
            </a:r>
            <a:r>
              <a:rPr lang="ru-RU" b="1" dirty="0">
                <a:solidFill>
                  <a:schemeClr val="bg1"/>
                </a:solidFill>
              </a:rPr>
              <a:t> генерации </a:t>
            </a:r>
            <a:r>
              <a:rPr lang="ru-RU" b="1" dirty="0" err="1">
                <a:solidFill>
                  <a:schemeClr val="bg1"/>
                </a:solidFill>
              </a:rPr>
              <a:t>Use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Cases</a:t>
            </a:r>
            <a:r>
              <a:rPr lang="ru-RU" b="1" dirty="0">
                <a:solidFill>
                  <a:schemeClr val="bg1"/>
                </a:solidFill>
              </a:rPr>
              <a:t> и </a:t>
            </a:r>
            <a:r>
              <a:rPr lang="ru-RU" b="1" dirty="0" err="1">
                <a:solidFill>
                  <a:schemeClr val="bg1"/>
                </a:solidFill>
              </a:rPr>
              <a:t>Activity</a:t>
            </a:r>
            <a:r>
              <a:rPr lang="ru-RU" b="1" dirty="0">
                <a:solidFill>
                  <a:schemeClr val="bg1"/>
                </a:solidFill>
              </a:rPr>
              <a:t>-диаграмм п</a:t>
            </a:r>
            <a:r>
              <a:rPr lang="ru-RU" dirty="0">
                <a:solidFill>
                  <a:schemeClr val="bg1"/>
                </a:solidFill>
              </a:rPr>
              <a:t>о функциональным и нефункциональным требованиям</a:t>
            </a:r>
            <a:br>
              <a:rPr lang="ru-RU" dirty="0">
                <a:solidFill>
                  <a:schemeClr val="bg1"/>
                </a:solidFill>
              </a:rPr>
            </a:b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Google Shape;39;g3b30c722ffd_42_136">
            <a:extLst>
              <a:ext uri="{FF2B5EF4-FFF2-40B4-BE49-F238E27FC236}">
                <a16:creationId xmlns:a16="http://schemas.microsoft.com/office/drawing/2014/main" id="{6AC6C56F-C14B-0DB9-6CB7-AB7DFF0B3076}"/>
              </a:ext>
            </a:extLst>
          </p:cNvPr>
          <p:cNvSpPr txBox="1">
            <a:spLocks/>
          </p:cNvSpPr>
          <p:nvPr/>
        </p:nvSpPr>
        <p:spPr>
          <a:xfrm>
            <a:off x="7279005" y="5074432"/>
            <a:ext cx="4912995" cy="147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marL="0" indent="0">
              <a:lnSpc>
                <a:spcPct val="70000"/>
              </a:lnSpc>
              <a:spcBef>
                <a:spcPts val="0"/>
              </a:spcBef>
              <a:buClr>
                <a:schemeClr val="lt1"/>
              </a:buClr>
              <a:buSzPts val="1800"/>
            </a:pPr>
            <a:r>
              <a:rPr lang="ru-RU" sz="2200" b="1" dirty="0">
                <a:solidFill>
                  <a:schemeClr val="lt1"/>
                </a:solidFill>
                <a:latin typeface="Aptos" panose="020B0004020202020204" pitchFamily="34" charset="0"/>
              </a:rPr>
              <a:t>Студент: </a:t>
            </a:r>
            <a:br>
              <a:rPr lang="ru-RU" sz="2200" b="1" dirty="0">
                <a:solidFill>
                  <a:schemeClr val="lt1"/>
                </a:solidFill>
                <a:latin typeface="Aptos" panose="020B0004020202020204" pitchFamily="34" charset="0"/>
              </a:rPr>
            </a:br>
            <a:r>
              <a:rPr lang="ru-RU" sz="2200" b="1" dirty="0">
                <a:solidFill>
                  <a:schemeClr val="lt1"/>
                </a:solidFill>
                <a:latin typeface="Aptos" panose="020B0004020202020204" pitchFamily="34" charset="0"/>
              </a:rPr>
              <a:t>Боцман Артем Евгеньевич, группа: </a:t>
            </a:r>
            <a:r>
              <a:rPr lang="en" sz="2200" b="1" dirty="0">
                <a:solidFill>
                  <a:schemeClr val="lt1"/>
                </a:solidFill>
                <a:latin typeface="Aptos" panose="020B0004020202020204" pitchFamily="34" charset="0"/>
              </a:rPr>
              <a:t>J4140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Clr>
                <a:schemeClr val="lt1"/>
              </a:buClr>
              <a:buSzPts val="1800"/>
            </a:pPr>
            <a:endParaRPr lang="en" sz="2200" b="1" dirty="0">
              <a:solidFill>
                <a:schemeClr val="lt1"/>
              </a:solidFill>
              <a:latin typeface="Aptos" panose="020B000402020202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Clr>
                <a:schemeClr val="lt1"/>
              </a:buClr>
              <a:buSzPts val="1800"/>
            </a:pPr>
            <a:r>
              <a:rPr lang="ru-RU" sz="2200" b="1" dirty="0">
                <a:solidFill>
                  <a:schemeClr val="lt1"/>
                </a:solidFill>
                <a:latin typeface="Aptos" panose="020B0004020202020204" pitchFamily="34" charset="0"/>
              </a:rPr>
              <a:t>Научный руководитель: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Clr>
                <a:schemeClr val="lt1"/>
              </a:buClr>
              <a:buSzPts val="1800"/>
            </a:pPr>
            <a:r>
              <a:rPr lang="ru-RU" sz="2200" b="1" dirty="0">
                <a:solidFill>
                  <a:schemeClr val="lt1"/>
                </a:solidFill>
                <a:latin typeface="Aptos" panose="020B0004020202020204" pitchFamily="34" charset="0"/>
              </a:rPr>
              <a:t>Филатова Анастасия Алексеевна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BC514-BA2B-60DA-F961-ED743C90F684}"/>
              </a:ext>
            </a:extLst>
          </p:cNvPr>
          <p:cNvSpPr txBox="1"/>
          <p:nvPr/>
        </p:nvSpPr>
        <p:spPr>
          <a:xfrm>
            <a:off x="4669155" y="6550223"/>
            <a:ext cx="285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Санкт-Петербург, 2026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7C6AF724-2405-4608-04D4-DDFF438C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>
            <a:extLst>
              <a:ext uri="{FF2B5EF4-FFF2-40B4-BE49-F238E27FC236}">
                <a16:creationId xmlns:a16="http://schemas.microsoft.com/office/drawing/2014/main" id="{7178A269-E1EB-6E3E-1659-23EFD436A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Постановка проблемы</a:t>
            </a:r>
            <a:endParaRPr dirty="0"/>
          </a:p>
        </p:txBody>
      </p:sp>
      <p:sp>
        <p:nvSpPr>
          <p:cNvPr id="46" name="Google Shape;46;p2">
            <a:extLst>
              <a:ext uri="{FF2B5EF4-FFF2-40B4-BE49-F238E27FC236}">
                <a16:creationId xmlns:a16="http://schemas.microsoft.com/office/drawing/2014/main" id="{34BB8DD8-94D5-0BD6-CB2F-DB67B0C5A3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47" name="Google Shape;47;p2">
            <a:extLst>
              <a:ext uri="{FF2B5EF4-FFF2-40B4-BE49-F238E27FC236}">
                <a16:creationId xmlns:a16="http://schemas.microsoft.com/office/drawing/2014/main" id="{F1E7DB4A-32C2-1DA7-6775-FC9E770D6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1903" y="1287209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>
              <a:spcBef>
                <a:spcPts val="0"/>
              </a:spcBef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Требования в свободном тексте могут допускать разные трактовки. В них не всегда явно представлены акторы, последовательность действий, альтернативные сценарии и ошибки. Если неоднозначность обнаруживается после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кодогенерации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, приходится повторно изменять архитектуру и генерировать код. Это увеличивает время и стоимость разработки.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049B05-06BA-D253-1005-18F2E2F566AD}"/>
              </a:ext>
            </a:extLst>
          </p:cNvPr>
          <p:cNvSpPr txBox="1"/>
          <p:nvPr/>
        </p:nvSpPr>
        <p:spPr>
          <a:xfrm>
            <a:off x="421531" y="91977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/>
              <a:t>Решаемая проблема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C86F0-A8E7-F874-0C4C-6D6785F9482C}"/>
              </a:ext>
            </a:extLst>
          </p:cNvPr>
          <p:cNvSpPr txBox="1"/>
          <p:nvPr/>
        </p:nvSpPr>
        <p:spPr>
          <a:xfrm>
            <a:off x="419552" y="2196747"/>
            <a:ext cx="10111882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600" dirty="0"/>
              <a:t>пользователь описывает будущую систему естественным языком;</a:t>
            </a:r>
          </a:p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600" dirty="0"/>
              <a:t>при прямом переходе от длинного запроса к коду отдельные намерения и требования могут потеряться;</a:t>
            </a:r>
          </a:p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600" dirty="0"/>
              <a:t>технически корректное приложение всё равно может не соответствовать ожиданиям пользователя;</a:t>
            </a:r>
          </a:p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600" dirty="0"/>
              <a:t>проверка ошибки после генерации всего приложения дороже, чем проверка промежуточной спецификации;</a:t>
            </a:r>
          </a:p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600" dirty="0"/>
              <a:t>длинный текст трудно согласовывать, поэтому нужен понятный визуальный промежуточный артефакт.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121B3B-86E3-58F5-46A0-8BC0B1A7D450}"/>
              </a:ext>
            </a:extLst>
          </p:cNvPr>
          <p:cNvSpPr txBox="1"/>
          <p:nvPr/>
        </p:nvSpPr>
        <p:spPr>
          <a:xfrm>
            <a:off x="419552" y="609434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Ошибки уточняются до дорогостоящей </a:t>
            </a:r>
            <a:r>
              <a:rPr lang="ru-RU" dirty="0" err="1"/>
              <a:t>кодогенерации</a:t>
            </a:r>
            <a:r>
              <a:rPr lang="ru-RU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97513F-5466-3163-E713-55C54E97ABCD}"/>
              </a:ext>
            </a:extLst>
          </p:cNvPr>
          <p:cNvSpPr txBox="1"/>
          <p:nvPr/>
        </p:nvSpPr>
        <p:spPr>
          <a:xfrm>
            <a:off x="419552" y="5741970"/>
            <a:ext cx="11348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/>
              <a:t>Что изменилось:</a:t>
            </a:r>
            <a:r>
              <a:rPr lang="ru-RU" sz="1600" dirty="0"/>
              <a:t> добавлены результаты экспериментов и метрики, приведены обоснования принятых решений.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A90B56-612E-F5B3-09EE-EC87E0E7B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99" y="4216821"/>
            <a:ext cx="8964312" cy="144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18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>
          <a:extLst>
            <a:ext uri="{FF2B5EF4-FFF2-40B4-BE49-F238E27FC236}">
              <a16:creationId xmlns:a16="http://schemas.microsoft.com/office/drawing/2014/main" id="{9657D014-A21F-5BC4-0032-1C89701E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>
            <a:extLst>
              <a:ext uri="{FF2B5EF4-FFF2-40B4-BE49-F238E27FC236}">
                <a16:creationId xmlns:a16="http://schemas.microsoft.com/office/drawing/2014/main" id="{80A942EA-375C-CA4B-D5E0-82BE904E22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Цель и задачи</a:t>
            </a:r>
            <a:endParaRPr dirty="0"/>
          </a:p>
        </p:txBody>
      </p:sp>
      <p:sp>
        <p:nvSpPr>
          <p:cNvPr id="54" name="Google Shape;54;p3">
            <a:extLst>
              <a:ext uri="{FF2B5EF4-FFF2-40B4-BE49-F238E27FC236}">
                <a16:creationId xmlns:a16="http://schemas.microsoft.com/office/drawing/2014/main" id="{FBB4C4B7-8260-1459-B22D-B0F1DD36BC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2275" y="1157592"/>
            <a:ext cx="11155436" cy="1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ru-RU" b="1" dirty="0"/>
              <a:t>Цель исследования: </a:t>
            </a:r>
          </a:p>
          <a:p>
            <a:pPr marL="0" indent="0">
              <a:spcBef>
                <a:spcPts val="0"/>
              </a:spcBef>
            </a:pPr>
            <a:r>
              <a:rPr lang="ru-RU" sz="1800" dirty="0"/>
              <a:t>Разработать воспроизводимый </a:t>
            </a:r>
            <a:r>
              <a:rPr lang="ru-RU" sz="1800" dirty="0" err="1"/>
              <a:t>агентный</a:t>
            </a:r>
            <a:r>
              <a:rPr lang="ru-RU" sz="1800" dirty="0"/>
              <a:t> </a:t>
            </a:r>
            <a:r>
              <a:rPr lang="en" sz="1800" dirty="0"/>
              <a:t>pipeline, </a:t>
            </a:r>
            <a:r>
              <a:rPr lang="ru-RU" sz="1800" dirty="0"/>
              <a:t>преобразующий ФТ/НФТ (Функциональные и нефункциональные требования) в структурированные </a:t>
            </a:r>
            <a:r>
              <a:rPr lang="en" sz="1800" dirty="0"/>
              <a:t>Use Cases </a:t>
            </a:r>
            <a:r>
              <a:rPr lang="ru-RU" sz="1800" dirty="0"/>
              <a:t>и </a:t>
            </a:r>
            <a:r>
              <a:rPr lang="en" sz="1800" dirty="0"/>
              <a:t>activity-</a:t>
            </a:r>
            <a:r>
              <a:rPr lang="ru-RU" sz="1800" dirty="0"/>
              <a:t>диаграммы с проверяемой трассировкой до исходных требований</a:t>
            </a:r>
          </a:p>
        </p:txBody>
      </p:sp>
      <p:sp>
        <p:nvSpPr>
          <p:cNvPr id="2" name="Google Shape;54;p3">
            <a:extLst>
              <a:ext uri="{FF2B5EF4-FFF2-40B4-BE49-F238E27FC236}">
                <a16:creationId xmlns:a16="http://schemas.microsoft.com/office/drawing/2014/main" id="{272CDF32-84E4-33D0-BDE1-517D6F0D4245}"/>
              </a:ext>
            </a:extLst>
          </p:cNvPr>
          <p:cNvSpPr txBox="1">
            <a:spLocks/>
          </p:cNvSpPr>
          <p:nvPr/>
        </p:nvSpPr>
        <p:spPr>
          <a:xfrm>
            <a:off x="421531" y="2131563"/>
            <a:ext cx="11348194" cy="4401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marL="0" indent="0">
              <a:spcBef>
                <a:spcPts val="0"/>
              </a:spcBef>
            </a:pPr>
            <a:endParaRPr lang="ru-RU" sz="1800" b="1" dirty="0"/>
          </a:p>
          <a:p>
            <a:pPr marL="0" indent="0">
              <a:spcBef>
                <a:spcPts val="0"/>
              </a:spcBef>
            </a:pPr>
            <a:r>
              <a:rPr lang="ru-RU" sz="1800" b="1" dirty="0"/>
              <a:t>Задачи:</a:t>
            </a:r>
          </a:p>
          <a:p>
            <a:pPr marL="685800" indent="-457200">
              <a:buFont typeface="+mj-lt"/>
              <a:buAutoNum type="arabicPeriod"/>
            </a:pPr>
            <a:r>
              <a:rPr lang="ru-RU" sz="1800" dirty="0"/>
              <a:t>Определить типизированные модели входных требований, </a:t>
            </a:r>
            <a:r>
              <a:rPr lang="ru-RU" sz="1800" dirty="0" err="1"/>
              <a:t>Use</a:t>
            </a:r>
            <a:r>
              <a:rPr lang="ru-RU" sz="1800" dirty="0"/>
              <a:t> </a:t>
            </a:r>
            <a:r>
              <a:rPr lang="ru-RU" sz="1800" dirty="0" err="1"/>
              <a:t>Cases</a:t>
            </a:r>
            <a:r>
              <a:rPr lang="ru-RU" sz="1800" dirty="0"/>
              <a:t>, сценарных шагов, </a:t>
            </a:r>
            <a:r>
              <a:rPr lang="ru-RU" sz="1800" dirty="0" err="1"/>
              <a:t>activity</a:t>
            </a:r>
            <a:r>
              <a:rPr lang="ru-RU" sz="1800" dirty="0"/>
              <a:t>-диаграмм и связей трассировки.</a:t>
            </a:r>
          </a:p>
          <a:p>
            <a:pPr marL="685800" indent="-457200">
              <a:buFont typeface="+mj-lt"/>
              <a:buAutoNum type="arabicPeriod"/>
            </a:pPr>
            <a:r>
              <a:rPr lang="ru-RU" sz="1800" dirty="0"/>
              <a:t>Реализовать два специализированных графа и корневой оркестратор с ограниченными циклами проверки и исправления.</a:t>
            </a:r>
          </a:p>
          <a:p>
            <a:pPr marL="685800" indent="-457200">
              <a:buFont typeface="+mj-lt"/>
              <a:buAutoNum type="arabicPeriod"/>
            </a:pPr>
            <a:r>
              <a:rPr lang="ru-RU" sz="1800" dirty="0"/>
              <a:t>Добавить формальные проверки, критику и ограниченное исправление и </a:t>
            </a:r>
            <a:r>
              <a:rPr lang="ru-RU" sz="1800" dirty="0" err="1"/>
              <a:t>Mermaid</a:t>
            </a:r>
            <a:r>
              <a:rPr lang="ru-RU" sz="1800" dirty="0"/>
              <a:t>-диаграмм.</a:t>
            </a:r>
          </a:p>
          <a:p>
            <a:pPr marL="685800" indent="-457200">
              <a:buFont typeface="+mj-lt"/>
              <a:buAutoNum type="arabicPeriod"/>
            </a:pPr>
            <a:r>
              <a:rPr lang="ru-RU" sz="1800" dirty="0"/>
              <a:t>Подготовить </a:t>
            </a:r>
            <a:r>
              <a:rPr lang="ru-RU" sz="1800" dirty="0" err="1"/>
              <a:t>benchmark</a:t>
            </a:r>
            <a:r>
              <a:rPr lang="ru-RU" sz="1800" dirty="0"/>
              <a:t> эталонную разметку, детерминированные валидаторы и метрики качества побили по </a:t>
            </a:r>
            <a:r>
              <a:rPr lang="ru-RU" sz="1800" dirty="0" err="1"/>
              <a:t>котегориям</a:t>
            </a:r>
            <a:r>
              <a:rPr lang="ru-RU" sz="1800" dirty="0"/>
              <a:t> как справляется система с разным кол-вом ФТ.</a:t>
            </a:r>
            <a:br>
              <a:rPr lang="ru-RU" sz="1800" dirty="0"/>
            </a:br>
            <a:r>
              <a:rPr lang="ru-RU" sz="1800" dirty="0"/>
              <a:t>(чтобы посмотреть что любая модель справиться с ФТ)</a:t>
            </a:r>
          </a:p>
          <a:p>
            <a:pPr marL="685800" indent="-457200">
              <a:buFont typeface="+mj-lt"/>
              <a:buAutoNum type="arabicPeriod"/>
            </a:pPr>
            <a:r>
              <a:rPr lang="ru-RU" sz="1800" dirty="0"/>
              <a:t>Сравнить полный граф с прямым вызовом LLM в одинаковых условиях по качеству, успешности полного запуска, трассировке, времени и стоимости.</a:t>
            </a:r>
          </a:p>
          <a:p>
            <a:pPr marL="0" indent="0">
              <a:spcBef>
                <a:spcPts val="0"/>
              </a:spcBef>
            </a:pPr>
            <a:br>
              <a:rPr lang="ru-RU" sz="1800" dirty="0"/>
            </a:b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21579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24C1C329-CAAC-6E30-9033-7AE5DF2E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41EF8C10-D04C-3760-5B56-3042EF1E6A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Обзор аналогичных решений/исследований</a:t>
            </a:r>
            <a:endParaRPr dirty="0"/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9442A56E-94CD-9F63-E6CC-6C8A777A79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graphicFrame>
        <p:nvGraphicFramePr>
          <p:cNvPr id="2" name="Google Shape;62;p4">
            <a:extLst>
              <a:ext uri="{FF2B5EF4-FFF2-40B4-BE49-F238E27FC236}">
                <a16:creationId xmlns:a16="http://schemas.microsoft.com/office/drawing/2014/main" id="{1DDCD498-3252-7162-61CC-A58B33E8EB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876272"/>
              </p:ext>
            </p:extLst>
          </p:nvPr>
        </p:nvGraphicFramePr>
        <p:xfrm>
          <a:off x="701399" y="1088952"/>
          <a:ext cx="10570946" cy="3953797"/>
        </p:xfrm>
        <a:graphic>
          <a:graphicData uri="http://schemas.openxmlformats.org/drawingml/2006/table">
            <a:tbl>
              <a:tblPr>
                <a:noFill/>
                <a:tableStyleId>{9F326521-B79D-460C-ACCF-49D8F5FA4728}</a:tableStyleId>
              </a:tblPr>
              <a:tblGrid>
                <a:gridCol w="1643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7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0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Подход</a:t>
                      </a:r>
                      <a:endParaRPr sz="1400" b="1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Что получает на вход</a:t>
                      </a:r>
                      <a:endParaRPr sz="1400" b="1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Что формирует</a:t>
                      </a:r>
                      <a:endParaRPr sz="1400" b="1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Интерпретация результатов</a:t>
                      </a:r>
                      <a:endParaRPr sz="1400" b="1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Pyreverse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Существующий Python-код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Диаграммы классов и пакетов</a:t>
                      </a: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⚠️ Работает после написания кода и не выделяет бизнес-сценарии</a:t>
                      </a:r>
                      <a:endParaRPr sz="1400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3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GitDiagram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-репозиторий</a:t>
                      </a: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Интерактивную архитектурную схему</a:t>
                      </a: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⚠️Анализирует структуру репозитория, а не требования до реализации</a:t>
                      </a:r>
                      <a:endParaRPr sz="1400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5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DeepWiki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DeepWiki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-Open</a:t>
                      </a: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Репозиторий</a:t>
                      </a: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Wiki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объяснения и архитектурные диаграммы</a:t>
                      </a: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⚠️ Предназначен для изучения существующей кодовой базы</a:t>
                      </a:r>
                      <a:endParaRPr sz="1400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60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Mermaid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CLI,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Structurizr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DSL</a:t>
                      </a: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Готовое описание диаграммы/ архитектурной модели</a:t>
                      </a: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Визуальное представление</a:t>
                      </a: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⚠️ Не извлекают акторов, сценарии и связи из требований</a:t>
                      </a:r>
                      <a:endParaRPr sz="1400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99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Прямой запрос к LLM.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Агентная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 система(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клод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,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опенаи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, курсор)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 err="1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Промпт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, 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ФТ</a:t>
                      </a:r>
                      <a:endParaRPr sz="1400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Cases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диаграммы одним ответом</a:t>
                      </a:r>
                    </a:p>
                  </a:txBody>
                  <a:tcPr marT="0" marB="0" anchor="ctr">
                    <a:lnL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anose="02020603050405020304" pitchFamily="18" charset="0"/>
                          <a:ea typeface="Golos Text"/>
                          <a:cs typeface="Times New Roman" panose="02020603050405020304" pitchFamily="18" charset="0"/>
                          <a:sym typeface="Golos Text"/>
                        </a:rPr>
                        <a:t>✔️ Ближайший прямой способ; требует экспериментальной проверки надёжности и трассировки</a:t>
                      </a:r>
                      <a:endParaRPr sz="1400" dirty="0">
                        <a:latin typeface="Times New Roman" panose="02020603050405020304" pitchFamily="18" charset="0"/>
                        <a:ea typeface="Golos Text"/>
                        <a:cs typeface="Times New Roman" panose="02020603050405020304" pitchFamily="18" charset="0"/>
                        <a:sym typeface="Golos Text"/>
                      </a:endParaRPr>
                    </a:p>
                  </a:txBody>
                  <a:tcPr marL="28575" marR="28575" marT="0" marB="0" anchor="ctr">
                    <a:lnL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9004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6C900E-4CD7-05D7-7983-C35A9703E26E}"/>
              </a:ext>
            </a:extLst>
          </p:cNvPr>
          <p:cNvSpPr txBox="1"/>
          <p:nvPr/>
        </p:nvSpPr>
        <p:spPr>
          <a:xfrm>
            <a:off x="701399" y="5317931"/>
            <a:ext cx="10570946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ru-RU" sz="1800" b="1" dirty="0"/>
              <a:t>Выявленная незакрытая задача:</a:t>
            </a:r>
          </a:p>
          <a:p>
            <a:pPr marL="0">
              <a:spcBef>
                <a:spcPts val="400"/>
              </a:spcBef>
            </a:pPr>
            <a:r>
              <a:rPr lang="ru-RU" sz="1800" dirty="0"/>
              <a:t>Рассмотренные инструменты не предоставляют единый воспроизводимый процесс, который до появления кода не формирует необходимую структуру:</a:t>
            </a:r>
          </a:p>
          <a:p>
            <a:pPr marL="0">
              <a:spcBef>
                <a:spcPts val="400"/>
              </a:spcBef>
            </a:pPr>
            <a:r>
              <a:rPr lang="ru-RU" sz="1800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754071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Обзор аналогичных решений</a:t>
            </a:r>
            <a:endParaRPr dirty="0"/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B8CC90-E6FE-8C67-4576-2763CF01A848}"/>
              </a:ext>
            </a:extLst>
          </p:cNvPr>
          <p:cNvSpPr txBox="1"/>
          <p:nvPr/>
        </p:nvSpPr>
        <p:spPr>
          <a:xfrm>
            <a:off x="421532" y="1945048"/>
            <a:ext cx="688768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Используется: </a:t>
            </a:r>
            <a:r>
              <a:rPr lang="ru-RU" sz="1800" dirty="0"/>
              <a:t>прямая генерация UML</a:t>
            </a:r>
          </a:p>
          <a:p>
            <a:pPr>
              <a:buNone/>
            </a:pPr>
            <a:r>
              <a:rPr lang="ru-RU" sz="1800" b="1" dirty="0"/>
              <a:t>Недостатки: </a:t>
            </a:r>
            <a:r>
              <a:rPr lang="ru-RU" sz="1800" dirty="0"/>
              <a:t>исследование показало, что в документах выявило пропуски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418A2A-B223-3B17-280B-33DDE14E67AE}"/>
              </a:ext>
            </a:extLst>
          </p:cNvPr>
          <p:cNvSpPr txBox="1"/>
          <p:nvPr/>
        </p:nvSpPr>
        <p:spPr>
          <a:xfrm>
            <a:off x="421532" y="1113894"/>
            <a:ext cx="9850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dirty="0" err="1"/>
              <a:t>Alessio</a:t>
            </a:r>
            <a:r>
              <a:rPr lang="ru-RU" sz="1800" dirty="0"/>
              <a:t> Ferrari, </a:t>
            </a:r>
            <a:r>
              <a:rPr lang="ru-RU" sz="1800" dirty="0" err="1"/>
              <a:t>Sallam</a:t>
            </a:r>
            <a:r>
              <a:rPr lang="ru-RU" sz="1800" dirty="0"/>
              <a:t> </a:t>
            </a:r>
            <a:r>
              <a:rPr lang="ru-RU" sz="1800" dirty="0" err="1"/>
              <a:t>Abualhaija</a:t>
            </a:r>
            <a:r>
              <a:rPr lang="ru-RU" sz="1800" dirty="0"/>
              <a:t>, </a:t>
            </a:r>
            <a:r>
              <a:rPr lang="ru-RU" sz="1800" dirty="0" err="1"/>
              <a:t>Chetan</a:t>
            </a:r>
            <a:r>
              <a:rPr lang="ru-RU" sz="1800" dirty="0"/>
              <a:t> </a:t>
            </a:r>
            <a:r>
              <a:rPr lang="ru-RU" sz="1800" dirty="0" err="1"/>
              <a:t>Arora</a:t>
            </a:r>
            <a:r>
              <a:rPr lang="ru-RU" sz="1800" dirty="0"/>
              <a:t>, “</a:t>
            </a:r>
            <a:r>
              <a:rPr lang="ru-RU" sz="1800" b="1" dirty="0"/>
              <a:t>Model Generation </a:t>
            </a:r>
            <a:r>
              <a:rPr lang="ru-RU" sz="1800" b="1" dirty="0" err="1"/>
              <a:t>with</a:t>
            </a:r>
            <a:r>
              <a:rPr lang="ru-RU" sz="1800" b="1" dirty="0"/>
              <a:t> </a:t>
            </a:r>
            <a:r>
              <a:rPr lang="ru-RU" sz="1800" b="1" dirty="0" err="1"/>
              <a:t>LLMs</a:t>
            </a:r>
            <a:r>
              <a:rPr lang="ru-RU" sz="1800" b="1" dirty="0"/>
              <a:t>: From </a:t>
            </a:r>
            <a:r>
              <a:rPr lang="ru-RU" sz="1800" b="1" dirty="0" err="1"/>
              <a:t>Requirements</a:t>
            </a:r>
            <a:r>
              <a:rPr lang="ru-RU" sz="1800" b="1" dirty="0"/>
              <a:t> </a:t>
            </a:r>
            <a:r>
              <a:rPr lang="ru-RU" sz="1800" b="1" dirty="0" err="1"/>
              <a:t>to</a:t>
            </a:r>
            <a:r>
              <a:rPr lang="ru-RU" sz="1800" b="1" dirty="0"/>
              <a:t> UML </a:t>
            </a:r>
            <a:r>
              <a:rPr lang="ru-RU" sz="1800" b="1" dirty="0" err="1"/>
              <a:t>Sequence</a:t>
            </a:r>
            <a:r>
              <a:rPr lang="ru-RU" sz="1800" b="1" dirty="0"/>
              <a:t> </a:t>
            </a:r>
            <a:r>
              <a:rPr lang="ru-RU" sz="1800" b="1" dirty="0" err="1"/>
              <a:t>Diagrams</a:t>
            </a:r>
            <a:r>
              <a:rPr lang="ru-RU" sz="1800" dirty="0"/>
              <a:t>”, IEEE </a:t>
            </a:r>
            <a:r>
              <a:rPr lang="ru-RU" sz="1800" dirty="0" err="1"/>
              <a:t>Requirements</a:t>
            </a:r>
            <a:r>
              <a:rPr lang="ru-RU" sz="1800" dirty="0"/>
              <a:t> Engineering Conference </a:t>
            </a:r>
            <a:r>
              <a:rPr lang="ru-RU" sz="1800" dirty="0" err="1"/>
              <a:t>Workshops</a:t>
            </a:r>
            <a:r>
              <a:rPr lang="ru-RU" sz="1800" dirty="0"/>
              <a:t>, 2024.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B9C7AD8-0CAF-E6BD-86BC-AE11AB052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16" y="3709286"/>
            <a:ext cx="3814288" cy="2403963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E0A92336-C89A-61E7-AC9D-498E7B26C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26" y="4202135"/>
            <a:ext cx="4810827" cy="146869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260B0A4-D05D-9A3A-CAE3-7E656C679727}"/>
              </a:ext>
            </a:extLst>
          </p:cNvPr>
          <p:cNvSpPr txBox="1"/>
          <p:nvPr/>
        </p:nvSpPr>
        <p:spPr>
          <a:xfrm>
            <a:off x="6434116" y="6129541"/>
            <a:ext cx="6097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effectLst/>
                <a:latin typeface="Arial"/>
              </a:rPr>
              <a:t>Рис. 2. Д</a:t>
            </a:r>
            <a:r>
              <a:rPr lang="ru-RU" dirty="0"/>
              <a:t>иаграммы для различных критериев оценки</a:t>
            </a:r>
            <a:endParaRPr lang="ru-RU" sz="6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65E7E4-9A8C-06BB-B756-D80C1CD3C614}"/>
              </a:ext>
            </a:extLst>
          </p:cNvPr>
          <p:cNvSpPr txBox="1"/>
          <p:nvPr/>
        </p:nvSpPr>
        <p:spPr>
          <a:xfrm>
            <a:off x="1808786" y="6129541"/>
            <a:ext cx="3143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effectLst/>
                <a:latin typeface="Arial"/>
              </a:rPr>
              <a:t>Рис. 1. </a:t>
            </a:r>
            <a:r>
              <a:rPr lang="ru-RU" dirty="0"/>
              <a:t>“Проблемы с обобщением”.</a:t>
            </a:r>
            <a:endParaRPr lang="ru-RU" sz="6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85E3FD69-83B2-554F-026A-74314251A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D05AD452-1FE8-E5A4-3BA5-2B0107C66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Обзор аналогичных решений</a:t>
            </a:r>
            <a:endParaRPr dirty="0"/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39E95486-403F-A40A-4640-A0CB729313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3F5D30-656D-C9A0-8BBA-13D5839B28B3}"/>
              </a:ext>
            </a:extLst>
          </p:cNvPr>
          <p:cNvSpPr txBox="1"/>
          <p:nvPr/>
        </p:nvSpPr>
        <p:spPr>
          <a:xfrm>
            <a:off x="421532" y="1575245"/>
            <a:ext cx="94290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Используется: </a:t>
            </a:r>
            <a:r>
              <a:rPr lang="ru-RU" sz="1800" dirty="0" err="1"/>
              <a:t>многоагентная</a:t>
            </a:r>
            <a:r>
              <a:rPr lang="ru-RU" sz="1800" dirty="0"/>
              <a:t> генерация UML-диаграмм классов, задача разделена между агентами извлечения сущностей, определения связей, построения JSON-модели</a:t>
            </a:r>
            <a:br>
              <a:rPr lang="ru-RU" sz="1800" dirty="0"/>
            </a:br>
            <a:r>
              <a:rPr lang="ru-RU" sz="1800" b="1" dirty="0"/>
              <a:t>Преимущество: </a:t>
            </a:r>
            <a:r>
              <a:rPr lang="ru-RU" sz="1800" dirty="0"/>
              <a:t>разделение задачи между специализированными агентами повысило средний F1 </a:t>
            </a:r>
            <a:br>
              <a:rPr lang="ru-RU" sz="1800" dirty="0"/>
            </a:br>
            <a:endParaRPr lang="ru-RU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3E9464-11CA-A86B-DF60-80038F7A14C1}"/>
              </a:ext>
            </a:extLst>
          </p:cNvPr>
          <p:cNvSpPr txBox="1"/>
          <p:nvPr/>
        </p:nvSpPr>
        <p:spPr>
          <a:xfrm>
            <a:off x="421532" y="1021404"/>
            <a:ext cx="9820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 err="1"/>
              <a:t>Polydoros</a:t>
            </a:r>
            <a:r>
              <a:rPr lang="ru-RU" sz="1800" dirty="0"/>
              <a:t> </a:t>
            </a:r>
            <a:r>
              <a:rPr lang="ru-RU" sz="1800" dirty="0" err="1"/>
              <a:t>Giannouris</a:t>
            </a:r>
            <a:r>
              <a:rPr lang="ru-RU" sz="1800" dirty="0"/>
              <a:t>, </a:t>
            </a:r>
            <a:r>
              <a:rPr lang="ru-RU" sz="1800" dirty="0" err="1"/>
              <a:t>Sophia</a:t>
            </a:r>
            <a:r>
              <a:rPr lang="ru-RU" sz="1800" dirty="0"/>
              <a:t> </a:t>
            </a:r>
            <a:r>
              <a:rPr lang="ru-RU" sz="1800" dirty="0" err="1"/>
              <a:t>Ananiadou</a:t>
            </a:r>
            <a:r>
              <a:rPr lang="ru-RU" sz="1800" dirty="0"/>
              <a:t>, “NOMAD: </a:t>
            </a:r>
            <a:r>
              <a:rPr lang="ru-RU" sz="1800" dirty="0" err="1"/>
              <a:t>A</a:t>
            </a:r>
            <a:r>
              <a:rPr lang="ru-RU" sz="1800" dirty="0"/>
              <a:t> Multi-Agent LLM System </a:t>
            </a:r>
            <a:r>
              <a:rPr lang="ru-RU" sz="1800" dirty="0" err="1"/>
              <a:t>for</a:t>
            </a:r>
            <a:r>
              <a:rPr lang="ru-RU" sz="1800" dirty="0"/>
              <a:t> UML Class </a:t>
            </a:r>
            <a:r>
              <a:rPr lang="ru-RU" sz="1800" dirty="0" err="1"/>
              <a:t>Diagram</a:t>
            </a:r>
            <a:r>
              <a:rPr lang="ru-RU" sz="1800" dirty="0"/>
              <a:t> Generation </a:t>
            </a:r>
            <a:r>
              <a:rPr lang="ru-RU" sz="1800" dirty="0" err="1"/>
              <a:t>from</a:t>
            </a:r>
            <a:r>
              <a:rPr lang="ru-RU" sz="1800" dirty="0"/>
              <a:t> Natural Language </a:t>
            </a:r>
            <a:r>
              <a:rPr lang="ru-RU" sz="1800" dirty="0" err="1"/>
              <a:t>Requirements</a:t>
            </a:r>
            <a:r>
              <a:rPr lang="ru-RU" sz="1800" dirty="0"/>
              <a:t>”, </a:t>
            </a:r>
            <a:r>
              <a:rPr lang="ru-RU" sz="1800" dirty="0" err="1"/>
              <a:t>arXiv</a:t>
            </a:r>
            <a:r>
              <a:rPr lang="ru-RU" sz="1800" dirty="0"/>
              <a:t>, 2025.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A9005-C02B-2A6D-492F-88BD38AE80ED}"/>
              </a:ext>
            </a:extLst>
          </p:cNvPr>
          <p:cNvSpPr txBox="1"/>
          <p:nvPr/>
        </p:nvSpPr>
        <p:spPr>
          <a:xfrm>
            <a:off x="5842660" y="6225595"/>
            <a:ext cx="6887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Рисунок 3: сравнение прямого запроса и </a:t>
            </a:r>
            <a:r>
              <a:rPr lang="ru-RU" dirty="0" err="1"/>
              <a:t>многоагентной</a:t>
            </a:r>
            <a:r>
              <a:rPr lang="ru-RU" dirty="0"/>
              <a:t> системы.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1564F7D-D444-542C-2D7D-066CDC6F7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161" y="3537166"/>
            <a:ext cx="4796642" cy="27453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C448D7-9698-C8BF-0D13-F4F6CDC39F19}"/>
              </a:ext>
            </a:extLst>
          </p:cNvPr>
          <p:cNvSpPr txBox="1"/>
          <p:nvPr/>
        </p:nvSpPr>
        <p:spPr>
          <a:xfrm>
            <a:off x="421532" y="3109668"/>
            <a:ext cx="56744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Ограничения: </a:t>
            </a:r>
            <a:r>
              <a:rPr lang="ru-RU" sz="1800" dirty="0"/>
              <a:t>NOMAD генерирует структурные диаграммы классов, а не </a:t>
            </a:r>
            <a:r>
              <a:rPr lang="ru-RU" sz="1800" dirty="0" err="1"/>
              <a:t>Use</a:t>
            </a:r>
            <a:r>
              <a:rPr lang="ru-RU" sz="1800" dirty="0"/>
              <a:t> </a:t>
            </a:r>
            <a:r>
              <a:rPr lang="ru-RU" sz="1800" dirty="0" err="1"/>
              <a:t>Cases</a:t>
            </a:r>
            <a:r>
              <a:rPr lang="ru-RU" sz="1800" dirty="0"/>
              <a:t> и поведенческие </a:t>
            </a:r>
            <a:r>
              <a:rPr lang="ru-RU" sz="1800" dirty="0" err="1"/>
              <a:t>Activity</a:t>
            </a:r>
            <a:r>
              <a:rPr lang="ru-RU" sz="1800" dirty="0"/>
              <a:t> </a:t>
            </a:r>
            <a:r>
              <a:rPr lang="ru-RU" sz="1800" dirty="0" err="1"/>
              <a:t>Diagrams</a:t>
            </a:r>
            <a:r>
              <a:rPr lang="ru-RU" sz="1800" dirty="0"/>
              <a:t>. Поэтому работа подтверждает выбранный дальнейший архитектурный принцип</a:t>
            </a:r>
          </a:p>
        </p:txBody>
      </p:sp>
    </p:spTree>
    <p:extLst>
      <p:ext uri="{BB962C8B-B14F-4D97-AF65-F5344CB8AC3E}">
        <p14:creationId xmlns:p14="http://schemas.microsoft.com/office/powerpoint/2010/main" val="3781696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4830029A-9E36-CEC2-E51A-0C09B0FB7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B1F6F31E-EC5F-DF02-6137-85B4C15CC5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Обзор аналогичных решений</a:t>
            </a:r>
            <a:endParaRPr dirty="0"/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3B8D0A29-4E65-5E82-9530-5E2CB535FB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2FE6B-E035-15F7-F1D8-F0BFC31E721A}"/>
              </a:ext>
            </a:extLst>
          </p:cNvPr>
          <p:cNvSpPr txBox="1"/>
          <p:nvPr/>
        </p:nvSpPr>
        <p:spPr>
          <a:xfrm>
            <a:off x="421532" y="1804232"/>
            <a:ext cx="66799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Используется: </a:t>
            </a:r>
            <a:r>
              <a:rPr lang="ru-RU" sz="1800" dirty="0"/>
              <a:t>построение сфокусированных UML-диаграмм по исходному коду и вопросу разработчика</a:t>
            </a:r>
          </a:p>
          <a:p>
            <a:endParaRPr lang="ru-RU" sz="1800" dirty="0"/>
          </a:p>
          <a:p>
            <a:r>
              <a:rPr lang="ru-RU" sz="1800" b="1" dirty="0"/>
              <a:t>Ограничения: </a:t>
            </a:r>
            <a:r>
              <a:rPr lang="ru-RU" sz="1800" dirty="0"/>
              <a:t>Query2Diagram работает с уже написанным кодом и решает задачу документирования существующей системы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105B2-E73D-7938-D0E0-E2385DD86F78}"/>
              </a:ext>
            </a:extLst>
          </p:cNvPr>
          <p:cNvSpPr txBox="1"/>
          <p:nvPr/>
        </p:nvSpPr>
        <p:spPr>
          <a:xfrm>
            <a:off x="421532" y="1021404"/>
            <a:ext cx="8888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 err="1"/>
              <a:t>Oleg</a:t>
            </a:r>
            <a:r>
              <a:rPr lang="ru-RU" sz="1800" dirty="0"/>
              <a:t> </a:t>
            </a:r>
            <a:r>
              <a:rPr lang="ru-RU" sz="1800" dirty="0" err="1"/>
              <a:t>Baryshnikov</a:t>
            </a:r>
            <a:r>
              <a:rPr lang="ru-RU" sz="1800" dirty="0"/>
              <a:t>, </a:t>
            </a:r>
            <a:r>
              <a:rPr lang="ru-RU" sz="1800" dirty="0" err="1"/>
              <a:t>Anton</a:t>
            </a:r>
            <a:r>
              <a:rPr lang="ru-RU" sz="1800" dirty="0"/>
              <a:t> </a:t>
            </a:r>
            <a:r>
              <a:rPr lang="ru-RU" sz="1800" dirty="0" err="1"/>
              <a:t>M</a:t>
            </a:r>
            <a:r>
              <a:rPr lang="ru-RU" sz="1800" dirty="0"/>
              <a:t>. </a:t>
            </a:r>
            <a:r>
              <a:rPr lang="ru-RU" sz="1800" dirty="0" err="1"/>
              <a:t>Alekseev</a:t>
            </a:r>
            <a:r>
              <a:rPr lang="ru-RU" sz="1800" dirty="0"/>
              <a:t>, </a:t>
            </a:r>
            <a:r>
              <a:rPr lang="ru-RU" sz="1800" dirty="0" err="1"/>
              <a:t>Sergey</a:t>
            </a:r>
            <a:r>
              <a:rPr lang="ru-RU" sz="1800" dirty="0"/>
              <a:t> I. </a:t>
            </a:r>
            <a:r>
              <a:rPr lang="ru-RU" sz="1800" dirty="0" err="1"/>
              <a:t>Nikolenko</a:t>
            </a:r>
            <a:r>
              <a:rPr lang="ru-RU" sz="1800" dirty="0"/>
              <a:t>, “Query2Diagram: </a:t>
            </a:r>
            <a:r>
              <a:rPr lang="ru-RU" sz="1800" dirty="0" err="1"/>
              <a:t>Answering</a:t>
            </a:r>
            <a:r>
              <a:rPr lang="ru-RU" sz="1800" dirty="0"/>
              <a:t> Developer </a:t>
            </a:r>
            <a:r>
              <a:rPr lang="ru-RU" sz="1800" dirty="0" err="1"/>
              <a:t>Queries</a:t>
            </a:r>
            <a:r>
              <a:rPr lang="ru-RU" sz="1800" dirty="0"/>
              <a:t> </a:t>
            </a:r>
            <a:r>
              <a:rPr lang="ru-RU" sz="1800" dirty="0" err="1"/>
              <a:t>with</a:t>
            </a:r>
            <a:r>
              <a:rPr lang="ru-RU" sz="1800" dirty="0"/>
              <a:t> UML </a:t>
            </a:r>
            <a:r>
              <a:rPr lang="ru-RU" sz="1800" dirty="0" err="1"/>
              <a:t>Diagrams</a:t>
            </a:r>
            <a:r>
              <a:rPr lang="ru-RU" sz="1800" dirty="0"/>
              <a:t>”, </a:t>
            </a:r>
            <a:r>
              <a:rPr lang="ru-RU" sz="1800" dirty="0" err="1"/>
              <a:t>arXiv</a:t>
            </a:r>
            <a:r>
              <a:rPr lang="ru-RU" sz="1800" dirty="0"/>
              <a:t>, 2026.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23F58-2325-0524-5667-B44F6F7E23A5}"/>
              </a:ext>
            </a:extLst>
          </p:cNvPr>
          <p:cNvSpPr txBox="1"/>
          <p:nvPr/>
        </p:nvSpPr>
        <p:spPr>
          <a:xfrm>
            <a:off x="5429343" y="6196921"/>
            <a:ext cx="6887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Рис 4: JSON-граф и результат его рендеринга средствами </a:t>
            </a:r>
            <a:r>
              <a:rPr lang="ru-RU" dirty="0" err="1"/>
              <a:t>PlantUML</a:t>
            </a:r>
            <a:r>
              <a:rPr lang="ru-RU" dirty="0"/>
              <a:t>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99959A-BECA-76D2-3743-F08492B42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444" y="1344569"/>
            <a:ext cx="3543487" cy="478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768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Методы и инструменты исследования</a:t>
            </a:r>
            <a:endParaRPr dirty="0"/>
          </a:p>
        </p:txBody>
      </p:sp>
      <p:sp>
        <p:nvSpPr>
          <p:cNvPr id="68" name="Google Shape;68;p5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9114355" cy="51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800" b="1" dirty="0"/>
              <a:t>Методы:</a:t>
            </a:r>
          </a:p>
          <a:p>
            <a:pPr marL="228600" lvl="0">
              <a:lnSpc>
                <a:spcPct val="100000"/>
              </a:lnSpc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ru-RU" sz="1800" dirty="0"/>
              <a:t>поэтапная генерация промежуточных артефактов;</a:t>
            </a:r>
          </a:p>
          <a:p>
            <a:pPr marL="228600" lvl="0">
              <a:lnSpc>
                <a:spcPct val="100000"/>
              </a:lnSpc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ru-RU" sz="1800" dirty="0"/>
              <a:t>типизированное представление данных;</a:t>
            </a:r>
          </a:p>
          <a:p>
            <a:pPr marL="228600" lvl="0">
              <a:lnSpc>
                <a:spcPct val="100000"/>
              </a:lnSpc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ru-RU" sz="1800" dirty="0" err="1"/>
              <a:t>графовая</a:t>
            </a:r>
            <a:r>
              <a:rPr lang="ru-RU" sz="1800" dirty="0"/>
              <a:t> </a:t>
            </a:r>
            <a:r>
              <a:rPr lang="ru-RU" sz="1800" dirty="0" err="1"/>
              <a:t>оркестрация</a:t>
            </a:r>
            <a:r>
              <a:rPr lang="ru-RU" sz="1800" dirty="0"/>
              <a:t>;</a:t>
            </a:r>
          </a:p>
          <a:p>
            <a:pPr marL="228600" lvl="0">
              <a:lnSpc>
                <a:spcPct val="100000"/>
              </a:lnSpc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ru-RU" sz="1800" dirty="0"/>
              <a:t>специализированные роли «генератор, критик/валидатор, редактор»;</a:t>
            </a:r>
          </a:p>
          <a:p>
            <a:pPr marL="228600" lvl="0">
              <a:lnSpc>
                <a:spcPct val="100000"/>
              </a:lnSpc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ru-RU" sz="1800" dirty="0"/>
              <a:t>детерминированные проверки структуры и ссылочной целостности;</a:t>
            </a:r>
          </a:p>
          <a:p>
            <a:pPr marL="228600" lvl="0">
              <a:lnSpc>
                <a:spcPct val="100000"/>
              </a:lnSpc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ru-RU" sz="1800" dirty="0"/>
              <a:t>сравнение с </a:t>
            </a:r>
            <a:r>
              <a:rPr lang="en" sz="1800" dirty="0"/>
              <a:t>Gold-</a:t>
            </a:r>
            <a:r>
              <a:rPr lang="ru-RU" sz="1800" dirty="0"/>
              <a:t>разметкой и </a:t>
            </a:r>
            <a:r>
              <a:rPr lang="en" sz="1800" dirty="0"/>
              <a:t>baseline.</a:t>
            </a:r>
            <a:endParaRPr lang="ru-RU" sz="1800" dirty="0"/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br>
              <a:rPr lang="ru-RU" sz="1800" b="1" dirty="0"/>
            </a:br>
            <a:r>
              <a:rPr lang="ru-RU" sz="1800" b="1" dirty="0"/>
              <a:t>Инструменты:</a:t>
            </a:r>
            <a:br>
              <a:rPr lang="ru-RU" sz="1800" b="1" dirty="0"/>
            </a:br>
            <a:r>
              <a:rPr lang="ru-RU" sz="1800" dirty="0"/>
              <a:t>Python, </a:t>
            </a:r>
            <a:r>
              <a:rPr lang="ru-RU" sz="1800" dirty="0" err="1"/>
              <a:t>LangGraph</a:t>
            </a:r>
            <a:r>
              <a:rPr lang="ru-RU" sz="1800" dirty="0"/>
              <a:t>, </a:t>
            </a:r>
            <a:r>
              <a:rPr lang="ru-RU" sz="1800" dirty="0" err="1"/>
              <a:t>Pydantic</a:t>
            </a:r>
            <a:r>
              <a:rPr lang="ru-RU" sz="1800" dirty="0"/>
              <a:t>, OpenAI-</a:t>
            </a:r>
            <a:r>
              <a:rPr lang="ru-RU" sz="1800" dirty="0" err="1"/>
              <a:t>compatible</a:t>
            </a:r>
            <a:r>
              <a:rPr lang="ru-RU" sz="1800" dirty="0"/>
              <a:t> API, </a:t>
            </a:r>
            <a:r>
              <a:rPr lang="ru-RU" sz="1800" dirty="0" err="1"/>
              <a:t>Mermaid</a:t>
            </a:r>
            <a:r>
              <a:rPr lang="ru-RU" sz="1800" dirty="0"/>
              <a:t> для визуализации, </a:t>
            </a:r>
            <a:r>
              <a:rPr lang="ru-RU" sz="1800" dirty="0" err="1"/>
              <a:t>SQLite</a:t>
            </a:r>
            <a:r>
              <a:rPr lang="ru-RU" sz="1800" dirty="0"/>
              <a:t> для сохранения состояния, </a:t>
            </a:r>
            <a:r>
              <a:rPr lang="ru-RU" sz="1800" dirty="0" err="1"/>
              <a:t>Pytest</a:t>
            </a:r>
            <a:r>
              <a:rPr lang="ru-RU" sz="1800" dirty="0"/>
              <a:t>, </a:t>
            </a:r>
            <a:r>
              <a:rPr lang="en" sz="1800" dirty="0" err="1"/>
              <a:t>mypy</a:t>
            </a:r>
            <a:endParaRPr lang="ru-RU" sz="1800" dirty="0"/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endParaRPr lang="ru-RU" sz="1800" dirty="0"/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endParaRPr lang="ru-RU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2537896-AD90-B449-65CD-1BEF780E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>
            <a:extLst>
              <a:ext uri="{FF2B5EF4-FFF2-40B4-BE49-F238E27FC236}">
                <a16:creationId xmlns:a16="http://schemas.microsoft.com/office/drawing/2014/main" id="{F81346C5-211C-FAC4-5E65-EC13602207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 dirty="0"/>
              <a:t>Технологическая новизна</a:t>
            </a:r>
            <a:endParaRPr dirty="0"/>
          </a:p>
        </p:txBody>
      </p:sp>
      <p:sp>
        <p:nvSpPr>
          <p:cNvPr id="75" name="Google Shape;75;p6">
            <a:extLst>
              <a:ext uri="{FF2B5EF4-FFF2-40B4-BE49-F238E27FC236}">
                <a16:creationId xmlns:a16="http://schemas.microsoft.com/office/drawing/2014/main" id="{369DBBA3-E032-4703-8B80-CCF8225061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76" name="Google Shape;76;p6">
            <a:extLst>
              <a:ext uri="{FF2B5EF4-FFF2-40B4-BE49-F238E27FC236}">
                <a16:creationId xmlns:a16="http://schemas.microsoft.com/office/drawing/2014/main" id="{196226D5-62AC-7264-3250-B81AD6480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9218579" cy="500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Единый процесс: требования → структурированные </a:t>
            </a:r>
            <a:r>
              <a:rPr lang="en" sz="1800" dirty="0"/>
              <a:t>Use Case → Activity Diagram </a:t>
            </a:r>
            <a:r>
              <a:rPr lang="ru-RU" sz="1800" dirty="0"/>
              <a:t>до появления кода;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Проверка сохранения информации после каждого преобразования;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двусторонняя </a:t>
            </a:r>
            <a:r>
              <a:rPr lang="ru-RU" sz="1800" dirty="0" err="1"/>
              <a:t>машино</a:t>
            </a:r>
            <a:r>
              <a:rPr lang="ru-RU" sz="1800" dirty="0"/>
              <a:t>-проверяемая </a:t>
            </a:r>
            <a:r>
              <a:rPr lang="ru-RU" sz="1800" dirty="0" err="1"/>
              <a:t>трассируемость</a:t>
            </a:r>
            <a:r>
              <a:rPr lang="ru-RU" sz="1800" dirty="0"/>
              <a:t> между требованиями, сценариями, шагами, узлами и переходами;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сочетание </a:t>
            </a:r>
            <a:r>
              <a:rPr lang="en" sz="1800" dirty="0"/>
              <a:t>LLM-</a:t>
            </a:r>
            <a:r>
              <a:rPr lang="ru-RU" sz="1800" dirty="0"/>
              <a:t>генерации со специализированными агентами и детерминированными проверками;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подготовленная основа для локального внесения пользовательских исправлений.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970166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 dirty="0"/>
              <a:t>Ход решения: Технический уровень реализации</a:t>
            </a:r>
            <a:endParaRPr dirty="0"/>
          </a:p>
        </p:txBody>
      </p:sp>
      <p:sp>
        <p:nvSpPr>
          <p:cNvPr id="82" name="Google Shape;82;p8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E4AC52B-E16F-35F2-A54C-BF296EA4E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073" y="1021404"/>
            <a:ext cx="8368355" cy="59205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1E07B0-661D-0CEE-BE53-C415D1B06960}"/>
              </a:ext>
            </a:extLst>
          </p:cNvPr>
          <p:cNvSpPr txBox="1"/>
          <p:nvPr/>
        </p:nvSpPr>
        <p:spPr>
          <a:xfrm>
            <a:off x="595994" y="1392274"/>
            <a:ext cx="2634094" cy="3247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Архитектура:</a:t>
            </a:r>
          </a:p>
          <a:p>
            <a:pPr lvl="0">
              <a:lnSpc>
                <a:spcPct val="150000"/>
              </a:lnSpc>
            </a:pPr>
            <a:r>
              <a:rPr lang="ru-RU" sz="1600" dirty="0"/>
              <a:t>Использован фреймворк управляющий граф </a:t>
            </a:r>
            <a:r>
              <a:rPr lang="ru-RU" sz="1600" dirty="0" err="1"/>
              <a:t>LangGraph</a:t>
            </a:r>
            <a:r>
              <a:rPr lang="ru-RU" sz="1600" dirty="0"/>
              <a:t> и два специализированных подграфа Два агента; общий процесс управляет порядком и ошибками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2DA394E8-1EED-E6DB-BBF3-ECB42BE5D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E0D48B-260D-144C-8929-7ABFC57CA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82" y="975208"/>
            <a:ext cx="10206970" cy="5740727"/>
          </a:xfrm>
          <a:prstGeom prst="rect">
            <a:avLst/>
          </a:prstGeom>
        </p:spPr>
      </p:pic>
      <p:sp>
        <p:nvSpPr>
          <p:cNvPr id="81" name="Google Shape;81;p8">
            <a:extLst>
              <a:ext uri="{FF2B5EF4-FFF2-40B4-BE49-F238E27FC236}">
                <a16:creationId xmlns:a16="http://schemas.microsoft.com/office/drawing/2014/main" id="{3F93D9E0-C3E3-A35B-DAF0-53625504B8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ct val="100000"/>
            </a:pPr>
            <a:r>
              <a:rPr lang="ru-RU" dirty="0"/>
              <a:t>Агент 1: </a:t>
            </a:r>
            <a:r>
              <a:rPr lang="ru-RU" dirty="0" err="1"/>
              <a:t>Use</a:t>
            </a:r>
            <a:r>
              <a:rPr lang="ru-RU" dirty="0"/>
              <a:t> Case</a:t>
            </a:r>
            <a:endParaRPr dirty="0"/>
          </a:p>
        </p:txBody>
      </p:sp>
      <p:sp>
        <p:nvSpPr>
          <p:cNvPr id="82" name="Google Shape;82;p8">
            <a:extLst>
              <a:ext uri="{FF2B5EF4-FFF2-40B4-BE49-F238E27FC236}">
                <a16:creationId xmlns:a16="http://schemas.microsoft.com/office/drawing/2014/main" id="{E61BE3DD-CFBD-EEFC-7DF5-C2F1767167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83" name="Google Shape;83;p8">
            <a:extLst>
              <a:ext uri="{FF2B5EF4-FFF2-40B4-BE49-F238E27FC236}">
                <a16:creationId xmlns:a16="http://schemas.microsoft.com/office/drawing/2014/main" id="{9E7C1B2C-F7EA-FE6D-5AEC-A7965D80B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6591" y="1340403"/>
            <a:ext cx="7471549" cy="3355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</a:pPr>
            <a:r>
              <a:rPr lang="ru-RU" sz="1600" b="1" dirty="0"/>
              <a:t>Агент 1</a:t>
            </a:r>
            <a:r>
              <a:rPr lang="ru-RU" sz="1600" dirty="0"/>
              <a:t>: из требований в проверяемые сценарии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0FFF5A-46D7-B366-7643-61AD248CE5FF}"/>
              </a:ext>
            </a:extLst>
          </p:cNvPr>
          <p:cNvSpPr txBox="1"/>
          <p:nvPr/>
        </p:nvSpPr>
        <p:spPr>
          <a:xfrm>
            <a:off x="441108" y="5882792"/>
            <a:ext cx="1112831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</a:pPr>
            <a:r>
              <a:rPr lang="ru-RU" sz="1600" b="1" dirty="0"/>
              <a:t>Смысл формирует </a:t>
            </a:r>
            <a:r>
              <a:rPr lang="en" sz="1600" dirty="0"/>
              <a:t>LLM; </a:t>
            </a:r>
            <a:r>
              <a:rPr lang="ru-RU" sz="1600" dirty="0"/>
              <a:t>схема, ссылки и предел исправлений контролируются </a:t>
            </a:r>
            <a:r>
              <a:rPr lang="ru-RU" sz="1600" dirty="0" err="1"/>
              <a:t>программно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267978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D9896428-4DB5-B2D2-DDCF-A9601C63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>
            <a:extLst>
              <a:ext uri="{FF2B5EF4-FFF2-40B4-BE49-F238E27FC236}">
                <a16:creationId xmlns:a16="http://schemas.microsoft.com/office/drawing/2014/main" id="{B6A4B172-74A8-40EE-5C0C-271079511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1004062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ct val="100000"/>
            </a:pPr>
            <a:r>
              <a:rPr lang="ru-RU" dirty="0"/>
              <a:t>Агент 2: из </a:t>
            </a:r>
            <a:r>
              <a:rPr lang="ru-RU" dirty="0" err="1"/>
              <a:t>Use</a:t>
            </a:r>
            <a:r>
              <a:rPr lang="ru-RU" dirty="0"/>
              <a:t> Case в </a:t>
            </a:r>
            <a:r>
              <a:rPr lang="ru-RU" dirty="0" err="1"/>
              <a:t>Activity</a:t>
            </a:r>
            <a:r>
              <a:rPr lang="ru-RU" dirty="0"/>
              <a:t> </a:t>
            </a:r>
            <a:r>
              <a:rPr lang="ru-RU" dirty="0" err="1"/>
              <a:t>Diagram</a:t>
            </a:r>
            <a:endParaRPr dirty="0"/>
          </a:p>
        </p:txBody>
      </p:sp>
      <p:sp>
        <p:nvSpPr>
          <p:cNvPr id="82" name="Google Shape;82;p8">
            <a:extLst>
              <a:ext uri="{FF2B5EF4-FFF2-40B4-BE49-F238E27FC236}">
                <a16:creationId xmlns:a16="http://schemas.microsoft.com/office/drawing/2014/main" id="{9E3E0284-3A5B-7659-9003-C21B08057A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110C8-5B5C-7745-1DC9-8785C4624AFE}"/>
              </a:ext>
            </a:extLst>
          </p:cNvPr>
          <p:cNvSpPr txBox="1"/>
          <p:nvPr/>
        </p:nvSpPr>
        <p:spPr>
          <a:xfrm>
            <a:off x="280081" y="5956957"/>
            <a:ext cx="117733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/>
              </a:rPr>
              <a:t>Дорожки — участники, вершины — действия и решения, ребра — порядок и условия, </a:t>
            </a:r>
            <a:r>
              <a:rPr lang="ru-RU" dirty="0" err="1">
                <a:latin typeface="Arial"/>
              </a:rPr>
              <a:t>related_step_ids</a:t>
            </a:r>
            <a:r>
              <a:rPr lang="ru-RU" dirty="0">
                <a:latin typeface="Arial"/>
              </a:rPr>
              <a:t> — связь со шагами </a:t>
            </a:r>
            <a:r>
              <a:rPr lang="ru-RU" dirty="0" err="1">
                <a:latin typeface="Arial"/>
              </a:rPr>
              <a:t>Use</a:t>
            </a:r>
            <a:r>
              <a:rPr lang="ru-RU" dirty="0">
                <a:latin typeface="Arial"/>
              </a:rPr>
              <a:t> Case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A1CCD438-458B-02D0-9789-FA6023C7E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568" y="-825870"/>
            <a:ext cx="3324113" cy="65627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2C24B2B-FB49-ABBF-6E8F-0B71CA9AB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68" y="1235646"/>
            <a:ext cx="2196872" cy="423264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372D466-8D46-D12A-7268-FD2BA7843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111" y="1166243"/>
            <a:ext cx="7772400" cy="437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24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60CD0814-1F86-7476-351E-357596E0A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>
            <a:extLst>
              <a:ext uri="{FF2B5EF4-FFF2-40B4-BE49-F238E27FC236}">
                <a16:creationId xmlns:a16="http://schemas.microsoft.com/office/drawing/2014/main" id="{9E76C567-8977-593D-F099-AFB3FB044C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ct val="100000"/>
            </a:pPr>
            <a:r>
              <a:rPr lang="ru-RU" dirty="0"/>
              <a:t>Трассировка и </a:t>
            </a:r>
            <a:r>
              <a:rPr lang="ru-RU" dirty="0" err="1"/>
              <a:t>Mermaid</a:t>
            </a:r>
            <a:endParaRPr dirty="0"/>
          </a:p>
        </p:txBody>
      </p:sp>
      <p:sp>
        <p:nvSpPr>
          <p:cNvPr id="82" name="Google Shape;82;p8">
            <a:extLst>
              <a:ext uri="{FF2B5EF4-FFF2-40B4-BE49-F238E27FC236}">
                <a16:creationId xmlns:a16="http://schemas.microsoft.com/office/drawing/2014/main" id="{BF3FF458-C172-0E50-0CBA-2C7F57E12C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9B7A56-1613-1CFD-08AD-135110A6B113}"/>
              </a:ext>
            </a:extLst>
          </p:cNvPr>
          <p:cNvSpPr txBox="1"/>
          <p:nvPr/>
        </p:nvSpPr>
        <p:spPr>
          <a:xfrm>
            <a:off x="472990" y="6041065"/>
            <a:ext cx="76828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latin typeface="Arial"/>
              </a:rPr>
              <a:t>TraceManifest</a:t>
            </a:r>
            <a:r>
              <a:rPr lang="ru-RU" dirty="0">
                <a:latin typeface="Arial"/>
              </a:rPr>
              <a:t> хранит типизированные связи и обеспечивает поиск в обе стороны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4B3DE0-B330-5B79-3849-A283DA413EAD}"/>
              </a:ext>
            </a:extLst>
          </p:cNvPr>
          <p:cNvSpPr txBox="1"/>
          <p:nvPr/>
        </p:nvSpPr>
        <p:spPr>
          <a:xfrm>
            <a:off x="472990" y="1139089"/>
            <a:ext cx="609797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lang="ru-RU" sz="1600" b="1" dirty="0">
                <a:latin typeface="Arial"/>
              </a:rPr>
              <a:t>Прямой поиск: </a:t>
            </a:r>
            <a:r>
              <a:rPr lang="ru-RU" sz="1600" dirty="0">
                <a:latin typeface="Arial"/>
              </a:rPr>
              <a:t>требование → элементы диаграммы</a:t>
            </a:r>
            <a:endParaRPr lang="ru-RU" sz="1600" dirty="0"/>
          </a:p>
          <a:p>
            <a:pPr lvl="0">
              <a:spcBef>
                <a:spcPts val="600"/>
              </a:spcBef>
            </a:pPr>
            <a:r>
              <a:rPr lang="ru-RU" sz="1600" b="1" dirty="0">
                <a:latin typeface="Arial"/>
              </a:rPr>
              <a:t>Обратный поиск: </a:t>
            </a:r>
            <a:r>
              <a:rPr lang="ru-RU" sz="1600" dirty="0">
                <a:latin typeface="Arial"/>
              </a:rPr>
              <a:t>узел или переход → шаг → требование</a:t>
            </a:r>
            <a:endParaRPr lang="ru-RU" sz="1600" dirty="0"/>
          </a:p>
          <a:p>
            <a:pPr lvl="0">
              <a:spcBef>
                <a:spcPts val="600"/>
              </a:spcBef>
            </a:pPr>
            <a:r>
              <a:rPr lang="ru-RU" sz="1600" b="1" dirty="0">
                <a:latin typeface="Arial"/>
              </a:rPr>
              <a:t>Проверки: </a:t>
            </a:r>
            <a:r>
              <a:rPr lang="ru-RU" sz="1600" dirty="0">
                <a:latin typeface="Arial"/>
              </a:rPr>
              <a:t>покрытие, целостность ссылок, допустимые типы связей</a:t>
            </a:r>
            <a:endParaRPr lang="ru-RU" sz="16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BB8F03C-DCC7-C03A-F0A4-F73443A35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65" y="816935"/>
            <a:ext cx="10488378" cy="58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92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D8F821CD-5AF0-C666-EC6B-E538E85AA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>
            <a:extLst>
              <a:ext uri="{FF2B5EF4-FFF2-40B4-BE49-F238E27FC236}">
                <a16:creationId xmlns:a16="http://schemas.microsoft.com/office/drawing/2014/main" id="{69932E8B-A7D0-FCCF-98CB-95172AD1E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ct val="100000"/>
            </a:pPr>
            <a:r>
              <a:rPr lang="en" dirty="0"/>
              <a:t>Benchmark </a:t>
            </a:r>
            <a:r>
              <a:rPr lang="ru-RU" dirty="0"/>
              <a:t>и </a:t>
            </a:r>
            <a:r>
              <a:rPr lang="en" dirty="0"/>
              <a:t>gold-</a:t>
            </a:r>
            <a:r>
              <a:rPr lang="ru-RU" dirty="0"/>
              <a:t>разметка</a:t>
            </a:r>
            <a:endParaRPr dirty="0"/>
          </a:p>
        </p:txBody>
      </p:sp>
      <p:sp>
        <p:nvSpPr>
          <p:cNvPr id="82" name="Google Shape;82;p8">
            <a:extLst>
              <a:ext uri="{FF2B5EF4-FFF2-40B4-BE49-F238E27FC236}">
                <a16:creationId xmlns:a16="http://schemas.microsoft.com/office/drawing/2014/main" id="{50733C0A-E8D9-C2DA-C1EC-62E1ECE7F6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8E429A1-28CE-B91E-0A3D-F867A6F73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747" y="1149213"/>
            <a:ext cx="9359122" cy="52645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1C95F38-AD9B-2820-47A6-D1FEA4828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047" y="2235773"/>
            <a:ext cx="2301422" cy="270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94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B82F0A2C-F300-3AC7-622F-EB97C922C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>
            <a:extLst>
              <a:ext uri="{FF2B5EF4-FFF2-40B4-BE49-F238E27FC236}">
                <a16:creationId xmlns:a16="http://schemas.microsoft.com/office/drawing/2014/main" id="{3133E3A4-0F98-2DA4-D762-ABADC1E55A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ct val="100000"/>
            </a:pPr>
            <a:r>
              <a:rPr lang="ru-RU" dirty="0"/>
              <a:t>Метрики качества и их бизнес-смысл</a:t>
            </a:r>
            <a:endParaRPr dirty="0"/>
          </a:p>
        </p:txBody>
      </p:sp>
      <p:sp>
        <p:nvSpPr>
          <p:cNvPr id="82" name="Google Shape;82;p8">
            <a:extLst>
              <a:ext uri="{FF2B5EF4-FFF2-40B4-BE49-F238E27FC236}">
                <a16:creationId xmlns:a16="http://schemas.microsoft.com/office/drawing/2014/main" id="{46126D5C-298F-3A24-B9A6-BA58C61955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59FC353-FBBC-B770-E530-9AA7A5A3D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43" y="1157400"/>
            <a:ext cx="9686777" cy="5448154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BAB0D224-BA52-AADD-F507-F8A6BC298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765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EEABD351-CAAC-4DB5-EE44-C36B85FB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>
            <a:extLst>
              <a:ext uri="{FF2B5EF4-FFF2-40B4-BE49-F238E27FC236}">
                <a16:creationId xmlns:a16="http://schemas.microsoft.com/office/drawing/2014/main" id="{56ECF15C-F3FF-678E-E36A-35A5D30E76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8931245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r>
              <a:rPr lang="ru-RU" dirty="0"/>
              <a:t>Один вызов, без исправления, без критика и FULL</a:t>
            </a:r>
            <a:endParaRPr dirty="0"/>
          </a:p>
        </p:txBody>
      </p:sp>
      <p:sp>
        <p:nvSpPr>
          <p:cNvPr id="82" name="Google Shape;82;p8">
            <a:extLst>
              <a:ext uri="{FF2B5EF4-FFF2-40B4-BE49-F238E27FC236}">
                <a16:creationId xmlns:a16="http://schemas.microsoft.com/office/drawing/2014/main" id="{9949B5C5-A262-6912-E61E-869194E5AB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BBA2CF-C800-4525-8236-C843847AC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6" y="1134811"/>
            <a:ext cx="10314775" cy="4631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5A4B3C-AA52-E0B0-B005-165413889F42}"/>
              </a:ext>
            </a:extLst>
          </p:cNvPr>
          <p:cNvSpPr txBox="1"/>
          <p:nvPr/>
        </p:nvSpPr>
        <p:spPr>
          <a:xfrm>
            <a:off x="1312444" y="5904700"/>
            <a:ext cx="9893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Эксперимент выполнен на трёх проектах по одному запуску, поэтому он показывает механизм работы компонентов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5DD2CBC-5FDD-DCDF-32D0-A2C892676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483" y="5207567"/>
            <a:ext cx="5956300" cy="55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FD3B751-C2FF-06D8-B2B9-34923D4F0D16}"/>
              </a:ext>
            </a:extLst>
          </p:cNvPr>
          <p:cNvSpPr txBox="1"/>
          <p:nvPr/>
        </p:nvSpPr>
        <p:spPr>
          <a:xfrm>
            <a:off x="2106241" y="4978144"/>
            <a:ext cx="7979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Рисунок:  сравнение </a:t>
            </a:r>
            <a:r>
              <a:rPr lang="en-US" dirty="0"/>
              <a:t>one-shot,</a:t>
            </a:r>
            <a:r>
              <a:rPr lang="ru-RU" dirty="0"/>
              <a:t> варианта без исправления без критика и полного графа</a:t>
            </a:r>
          </a:p>
        </p:txBody>
      </p:sp>
    </p:spTree>
    <p:extLst>
      <p:ext uri="{BB962C8B-B14F-4D97-AF65-F5344CB8AC3E}">
        <p14:creationId xmlns:p14="http://schemas.microsoft.com/office/powerpoint/2010/main" val="2296985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EF804E96-BB75-E900-43B0-4FCFBCC7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>
            <a:extLst>
              <a:ext uri="{FF2B5EF4-FFF2-40B4-BE49-F238E27FC236}">
                <a16:creationId xmlns:a16="http://schemas.microsoft.com/office/drawing/2014/main" id="{E5B1CD76-8949-3F72-CB71-5C60A76F12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87601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r>
              <a:rPr lang="ru-RU" dirty="0"/>
              <a:t>Результат: проверяемый этап устойчивее к росту</a:t>
            </a:r>
            <a:br>
              <a:rPr lang="ru-RU" dirty="0"/>
            </a:br>
            <a:r>
              <a:rPr lang="ru-RU" dirty="0"/>
              <a:t>входа</a:t>
            </a:r>
            <a:endParaRPr dirty="0"/>
          </a:p>
        </p:txBody>
      </p:sp>
      <p:sp>
        <p:nvSpPr>
          <p:cNvPr id="82" name="Google Shape;82;p8">
            <a:extLst>
              <a:ext uri="{FF2B5EF4-FFF2-40B4-BE49-F238E27FC236}">
                <a16:creationId xmlns:a16="http://schemas.microsoft.com/office/drawing/2014/main" id="{4D2F8D11-FC30-3E95-898F-9DF11740AF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C4813E-23B4-DDDE-B03C-6518706120D0}"/>
              </a:ext>
            </a:extLst>
          </p:cNvPr>
          <p:cNvSpPr txBox="1"/>
          <p:nvPr/>
        </p:nvSpPr>
        <p:spPr>
          <a:xfrm>
            <a:off x="421532" y="5766367"/>
            <a:ext cx="11561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Вывод: </a:t>
            </a:r>
            <a:r>
              <a:rPr lang="ru-RU" dirty="0"/>
              <a:t>при росте входа прямой вызов перестает проходить </a:t>
            </a:r>
            <a:r>
              <a:rPr lang="en" dirty="0"/>
              <a:t>E2E, </a:t>
            </a:r>
            <a:r>
              <a:rPr lang="ru-RU" dirty="0"/>
              <a:t>а полный граф сохраняет 19/20 принимаемых комплектов.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69459A-89D0-7DCA-971E-45FF5A15B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2" y="1122730"/>
            <a:ext cx="7772400" cy="45423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2AB920-20F6-471B-4F91-02AF93856334}"/>
              </a:ext>
            </a:extLst>
          </p:cNvPr>
          <p:cNvSpPr txBox="1"/>
          <p:nvPr/>
        </p:nvSpPr>
        <p:spPr>
          <a:xfrm>
            <a:off x="7807569" y="1122730"/>
            <a:ext cx="438443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b="1" dirty="0"/>
              <a:t>Полученный результат:</a:t>
            </a:r>
            <a:endParaRPr lang="en-US" b="1" dirty="0"/>
          </a:p>
          <a:p>
            <a:pPr lvl="0"/>
            <a:endParaRPr lang="ru-RU" b="1" dirty="0"/>
          </a:p>
          <a:p>
            <a:pPr lvl="0"/>
            <a:r>
              <a:rPr lang="ru-RU" sz="1600" b="1" dirty="0">
                <a:solidFill>
                  <a:schemeClr val="accent2"/>
                </a:solidFill>
              </a:rPr>
              <a:t>19/20 </a:t>
            </a:r>
            <a:r>
              <a:rPr lang="en" sz="1600" b="1" dirty="0">
                <a:solidFill>
                  <a:schemeClr val="accent2"/>
                </a:solidFill>
              </a:rPr>
              <a:t>FULL </a:t>
            </a:r>
            <a:r>
              <a:rPr lang="en-US" sz="1600" b="1" dirty="0">
                <a:solidFill>
                  <a:schemeClr val="accent2"/>
                </a:solidFill>
              </a:rPr>
              <a:t>E2E</a:t>
            </a:r>
            <a:endParaRPr lang="en" sz="1600" b="1" dirty="0">
              <a:solidFill>
                <a:schemeClr val="accent2"/>
              </a:solidFill>
            </a:endParaRPr>
          </a:p>
          <a:p>
            <a:pPr lvl="0"/>
            <a:r>
              <a:rPr lang="ru-RU" dirty="0"/>
              <a:t>против 9/20 у одного вызова</a:t>
            </a:r>
            <a:endParaRPr lang="en-US" dirty="0"/>
          </a:p>
          <a:p>
            <a:pPr lvl="0"/>
            <a:endParaRPr lang="ru-RU" dirty="0"/>
          </a:p>
          <a:p>
            <a:pPr lvl="0"/>
            <a:r>
              <a:rPr lang="en" dirty="0"/>
              <a:t>DEV20 × 3</a:t>
            </a:r>
          </a:p>
          <a:p>
            <a:pPr lvl="0"/>
            <a:r>
              <a:rPr lang="en" sz="1600" b="1" dirty="0">
                <a:solidFill>
                  <a:schemeClr val="accent2"/>
                </a:solidFill>
              </a:rPr>
              <a:t>60/60 E2E</a:t>
            </a:r>
          </a:p>
          <a:p>
            <a:pPr lvl="0"/>
            <a:r>
              <a:rPr lang="en" dirty="0"/>
              <a:t>Trace F1 = 96,3%</a:t>
            </a:r>
          </a:p>
          <a:p>
            <a:pPr lvl="0"/>
            <a:endParaRPr lang="en" dirty="0"/>
          </a:p>
          <a:p>
            <a:pPr lvl="0"/>
            <a:r>
              <a:rPr lang="ru-RU" b="1" dirty="0"/>
              <a:t>Итоговый комплект</a:t>
            </a:r>
          </a:p>
          <a:p>
            <a:pPr lvl="0"/>
            <a:r>
              <a:rPr lang="ru-RU" dirty="0"/>
              <a:t>ФТ/НФТ -&gt; </a:t>
            </a:r>
            <a:r>
              <a:rPr lang="en" dirty="0"/>
              <a:t>Use Cases -&gt; Activity</a:t>
            </a:r>
          </a:p>
          <a:p>
            <a:pPr lvl="0"/>
            <a:r>
              <a:rPr lang="en" dirty="0"/>
              <a:t>-&gt; Mermaid -&gt; </a:t>
            </a:r>
            <a:r>
              <a:rPr lang="en" dirty="0" err="1"/>
              <a:t>TraceManifest</a:t>
            </a:r>
            <a:r>
              <a:rPr lang="en" dirty="0"/>
              <a:t> -&gt; </a:t>
            </a:r>
            <a:r>
              <a:rPr lang="ru-RU" dirty="0"/>
              <a:t>отчёт</a:t>
            </a:r>
          </a:p>
          <a:p>
            <a:pPr lvl="0"/>
            <a:endParaRPr lang="en-US" dirty="0"/>
          </a:p>
          <a:p>
            <a:pPr lvl="0"/>
            <a:r>
              <a:rPr lang="ru-RU" b="1" dirty="0"/>
              <a:t>Ограничения</a:t>
            </a:r>
            <a:r>
              <a:rPr lang="en-US" b="1" dirty="0"/>
              <a:t>:</a:t>
            </a:r>
            <a:endParaRPr lang="ru-RU" b="1" dirty="0"/>
          </a:p>
          <a:p>
            <a:pPr lvl="0"/>
            <a:r>
              <a:rPr lang="en" dirty="0"/>
              <a:t>Gold-</a:t>
            </a:r>
            <a:r>
              <a:rPr lang="ru-RU" dirty="0"/>
              <a:t>кандидат ожидает проверки 2 экспертами</a:t>
            </a:r>
          </a:p>
          <a:p>
            <a:pPr lvl="0"/>
            <a:r>
              <a:rPr lang="en" dirty="0"/>
              <a:t>size benchmark: 1 </a:t>
            </a:r>
            <a:r>
              <a:rPr lang="ru-RU" dirty="0"/>
              <a:t>запуск на проект</a:t>
            </a:r>
          </a:p>
          <a:p>
            <a:pPr lvl="0"/>
            <a:r>
              <a:rPr lang="en" dirty="0"/>
              <a:t>SCALE-018: </a:t>
            </a:r>
            <a:r>
              <a:rPr lang="ru-RU" dirty="0"/>
              <a:t>контролируемое отклонение</a:t>
            </a:r>
          </a:p>
          <a:p>
            <a:pPr lvl="0"/>
            <a:r>
              <a:rPr lang="en" dirty="0"/>
              <a:t>hidden-</a:t>
            </a:r>
            <a:r>
              <a:rPr lang="ru-RU" dirty="0"/>
              <a:t>набор не использован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6C6F8-B9DA-7CC7-9D6F-E9201EDE84E2}"/>
              </a:ext>
            </a:extLst>
          </p:cNvPr>
          <p:cNvSpPr txBox="1"/>
          <p:nvPr/>
        </p:nvSpPr>
        <p:spPr>
          <a:xfrm>
            <a:off x="2834903" y="5538192"/>
            <a:ext cx="3261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Рисунок</a:t>
            </a:r>
            <a:r>
              <a:rPr lang="en-US" dirty="0"/>
              <a:t>: </a:t>
            </a:r>
            <a:r>
              <a:rPr lang="ru-RU" dirty="0"/>
              <a:t>этап устойчивости к росту</a:t>
            </a:r>
          </a:p>
        </p:txBody>
      </p:sp>
    </p:spTree>
    <p:extLst>
      <p:ext uri="{BB962C8B-B14F-4D97-AF65-F5344CB8AC3E}">
        <p14:creationId xmlns:p14="http://schemas.microsoft.com/office/powerpoint/2010/main" val="181388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CFF52A8-D7BE-3B62-4E56-960CE3D4A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>
            <a:extLst>
              <a:ext uri="{FF2B5EF4-FFF2-40B4-BE49-F238E27FC236}">
                <a16:creationId xmlns:a16="http://schemas.microsoft.com/office/drawing/2014/main" id="{7563936F-8689-F673-223E-E16AE29EEC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EC13FE2-8210-D4DA-B950-BB9A223E9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4" y="1203200"/>
            <a:ext cx="10662687" cy="4451599"/>
          </a:xfrm>
          <a:prstGeom prst="rect">
            <a:avLst/>
          </a:prstGeom>
        </p:spPr>
      </p:pic>
      <p:sp>
        <p:nvSpPr>
          <p:cNvPr id="6" name="Google Shape;81;p8">
            <a:extLst>
              <a:ext uri="{FF2B5EF4-FFF2-40B4-BE49-F238E27FC236}">
                <a16:creationId xmlns:a16="http://schemas.microsoft.com/office/drawing/2014/main" id="{8D149B7C-99A2-086F-95FF-C2D68BB404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87601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ru-RU" dirty="0"/>
              <a:t>Насколько полученный результат соответствует эталонной Gold-разметке?</a:t>
            </a:r>
          </a:p>
        </p:txBody>
      </p:sp>
    </p:spTree>
    <p:extLst>
      <p:ext uri="{BB962C8B-B14F-4D97-AF65-F5344CB8AC3E}">
        <p14:creationId xmlns:p14="http://schemas.microsoft.com/office/powerpoint/2010/main" val="3972273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F90447C6-F72C-45DE-C464-FB086FC81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>
            <a:extLst>
              <a:ext uri="{FF2B5EF4-FFF2-40B4-BE49-F238E27FC236}">
                <a16:creationId xmlns:a16="http://schemas.microsoft.com/office/drawing/2014/main" id="{D75CD4F4-E74E-293D-509F-8CCA45BE5D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8931245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ct val="100000"/>
            </a:pPr>
            <a:r>
              <a:rPr lang="ru-RU" dirty="0"/>
              <a:t>Полный граф против одношаговой LLM</a:t>
            </a:r>
            <a:endParaRPr dirty="0"/>
          </a:p>
        </p:txBody>
      </p:sp>
      <p:sp>
        <p:nvSpPr>
          <p:cNvPr id="82" name="Google Shape;82;p8">
            <a:extLst>
              <a:ext uri="{FF2B5EF4-FFF2-40B4-BE49-F238E27FC236}">
                <a16:creationId xmlns:a16="http://schemas.microsoft.com/office/drawing/2014/main" id="{F53CE931-D8D9-FB99-8D00-CFF2F639C6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6C3037-B099-C0D7-7DF1-D42603FCD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46" y="1234662"/>
            <a:ext cx="9144131" cy="45148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BA9229-96EA-B361-F315-130F8090959E}"/>
              </a:ext>
            </a:extLst>
          </p:cNvPr>
          <p:cNvSpPr txBox="1"/>
          <p:nvPr/>
        </p:nvSpPr>
        <p:spPr>
          <a:xfrm>
            <a:off x="9240154" y="1251555"/>
            <a:ext cx="27432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b="1" dirty="0"/>
              <a:t>Ключевой результат</a:t>
            </a:r>
          </a:p>
          <a:p>
            <a:pPr lvl="0"/>
            <a:endParaRPr lang="ru-RU" b="1" dirty="0"/>
          </a:p>
          <a:p>
            <a:pPr lvl="0"/>
            <a:r>
              <a:rPr lang="ru-RU" b="1" dirty="0"/>
              <a:t>E2E: </a:t>
            </a:r>
            <a:r>
              <a:rPr lang="ru-RU" sz="1600" b="1" dirty="0">
                <a:solidFill>
                  <a:schemeClr val="accent2"/>
                </a:solidFill>
              </a:rPr>
              <a:t>3,3% → 100%</a:t>
            </a:r>
            <a:br>
              <a:rPr lang="ru-RU" dirty="0">
                <a:solidFill>
                  <a:schemeClr val="accent2"/>
                </a:solidFill>
              </a:rPr>
            </a:b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2/60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60/60 принятых результатов.</a:t>
            </a:r>
          </a:p>
          <a:p>
            <a:pPr lvl="0"/>
            <a:r>
              <a:rPr lang="ru-RU" b="1" dirty="0" err="1"/>
              <a:t>Trace</a:t>
            </a:r>
            <a:r>
              <a:rPr lang="ru-RU" b="1" dirty="0"/>
              <a:t>: </a:t>
            </a:r>
            <a:r>
              <a:rPr lang="ru-RU" b="1" dirty="0">
                <a:solidFill>
                  <a:schemeClr val="accent2"/>
                </a:solidFill>
              </a:rPr>
              <a:t>F1:</a:t>
            </a:r>
            <a:r>
              <a:rPr lang="ru-RU" sz="1600" b="1" dirty="0">
                <a:solidFill>
                  <a:schemeClr val="accent2"/>
                </a:solidFill>
              </a:rPr>
              <a:t> 83,5% → 96,3%</a:t>
            </a:r>
            <a:br>
              <a:rPr lang="ru-RU" dirty="0"/>
            </a:b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правильность связей требований и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Use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Cases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lvl="0"/>
            <a:r>
              <a:rPr lang="ru-RU" b="1" dirty="0" err="1"/>
              <a:t>Branch</a:t>
            </a:r>
            <a:r>
              <a:rPr lang="ru-RU" b="1" dirty="0"/>
              <a:t> F1: </a:t>
            </a:r>
            <a:r>
              <a:rPr lang="ru-RU" sz="1600" b="1" dirty="0">
                <a:solidFill>
                  <a:schemeClr val="accent2"/>
                </a:solidFill>
              </a:rPr>
              <a:t>31,4% → 45,2%</a:t>
            </a:r>
            <a:br>
              <a:rPr lang="ru-RU" dirty="0">
                <a:solidFill>
                  <a:schemeClr val="accent2"/>
                </a:solidFill>
              </a:rPr>
            </a:b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альтернативные и ошибочные сценарии.</a:t>
            </a:r>
          </a:p>
          <a:p>
            <a:pPr lvl="0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b="1" dirty="0"/>
              <a:t>Цена надежности:</a:t>
            </a:r>
          </a:p>
          <a:p>
            <a:pPr lvl="0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время: </a:t>
            </a:r>
            <a:r>
              <a:rPr lang="ru-RU" b="1" dirty="0"/>
              <a:t>16,1 → 56,3 с</a:t>
            </a:r>
            <a:r>
              <a:rPr lang="ru-RU" dirty="0"/>
              <a:t>;</a:t>
            </a:r>
          </a:p>
          <a:p>
            <a:pPr lvl="0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токены: </a:t>
            </a:r>
            <a:r>
              <a:rPr lang="ru-RU" b="1" dirty="0"/>
              <a:t>10,6 → 62,0 тыс.</a:t>
            </a:r>
            <a:r>
              <a:rPr lang="ru-RU" dirty="0"/>
              <a:t>;</a:t>
            </a:r>
          </a:p>
          <a:p>
            <a:pPr lvl="0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вызовы LLM: </a:t>
            </a:r>
            <a:r>
              <a:rPr lang="ru-RU" b="1" dirty="0"/>
              <a:t>1,0 → 11,8</a:t>
            </a:r>
            <a:r>
              <a:rPr lang="ru-RU" dirty="0"/>
              <a:t>.</a:t>
            </a:r>
          </a:p>
          <a:p>
            <a:pPr lvl="0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6DEF91-42B4-3160-F2DD-7E7AFFB8F4AE}"/>
              </a:ext>
            </a:extLst>
          </p:cNvPr>
          <p:cNvSpPr txBox="1"/>
          <p:nvPr/>
        </p:nvSpPr>
        <p:spPr>
          <a:xfrm>
            <a:off x="421532" y="5766367"/>
            <a:ext cx="11561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Вывод: </a:t>
            </a:r>
            <a:r>
              <a:rPr lang="ru-RU" dirty="0"/>
              <a:t>граф не гарантирует рост каждой </a:t>
            </a:r>
            <a:r>
              <a:rPr lang="en" dirty="0"/>
              <a:t>F1, </a:t>
            </a:r>
            <a:r>
              <a:rPr lang="ru-RU" dirty="0"/>
              <a:t>но существенно повышает вероятность получить полный, проверяемый результат.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390538-8CA7-BABD-F8F6-4BC538B205F7}"/>
              </a:ext>
            </a:extLst>
          </p:cNvPr>
          <p:cNvSpPr txBox="1"/>
          <p:nvPr/>
        </p:nvSpPr>
        <p:spPr>
          <a:xfrm>
            <a:off x="2419351" y="5221539"/>
            <a:ext cx="7979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Рисунок: </a:t>
            </a:r>
            <a:r>
              <a:rPr lang="en-US" dirty="0"/>
              <a:t>FULL</a:t>
            </a:r>
            <a:r>
              <a:rPr lang="ru-RU" dirty="0"/>
              <a:t> и </a:t>
            </a:r>
            <a:r>
              <a:rPr lang="en-US" dirty="0" err="1"/>
              <a:t>о</a:t>
            </a:r>
            <a:r>
              <a:rPr lang="ru-RU" dirty="0" err="1"/>
              <a:t>дношаговой</a:t>
            </a:r>
            <a:r>
              <a:rPr lang="ru-RU" dirty="0"/>
              <a:t> </a:t>
            </a:r>
            <a:r>
              <a:rPr lang="en-US" dirty="0"/>
              <a:t>LLM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7919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B0558F2-4335-D415-D8CA-1B98F18CD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>
            <a:extLst>
              <a:ext uri="{FF2B5EF4-FFF2-40B4-BE49-F238E27FC236}">
                <a16:creationId xmlns:a16="http://schemas.microsoft.com/office/drawing/2014/main" id="{583D3EAE-E3FF-6D87-E48A-B30DD1E3A9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8931245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ct val="100000"/>
            </a:pPr>
            <a:r>
              <a:rPr lang="ru-RU" dirty="0" err="1"/>
              <a:t>DeepSeek</a:t>
            </a:r>
            <a:r>
              <a:rPr lang="ru-RU" dirty="0"/>
              <a:t>, GPT-5.5 и </a:t>
            </a:r>
            <a:r>
              <a:rPr lang="ru-RU" dirty="0" err="1"/>
              <a:t>Claude</a:t>
            </a:r>
            <a:r>
              <a:rPr lang="ru-RU" dirty="0"/>
              <a:t> Opus 5</a:t>
            </a:r>
            <a:endParaRPr dirty="0"/>
          </a:p>
        </p:txBody>
      </p:sp>
      <p:sp>
        <p:nvSpPr>
          <p:cNvPr id="82" name="Google Shape;82;p8">
            <a:extLst>
              <a:ext uri="{FF2B5EF4-FFF2-40B4-BE49-F238E27FC236}">
                <a16:creationId xmlns:a16="http://schemas.microsoft.com/office/drawing/2014/main" id="{D1A9B31C-C3BA-0F12-DEDA-3C3DFD4567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17D23D-68CF-E271-0309-661FF27B6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61" y="1144473"/>
            <a:ext cx="11473608" cy="47779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8EA6F3-6C22-1680-AD37-0375F9A5D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135" y="5469155"/>
            <a:ext cx="7772400" cy="7585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ED5682-8CE6-8F7A-7FC4-C9417DF61CC8}"/>
              </a:ext>
            </a:extLst>
          </p:cNvPr>
          <p:cNvSpPr txBox="1"/>
          <p:nvPr/>
        </p:nvSpPr>
        <p:spPr>
          <a:xfrm>
            <a:off x="3749156" y="5192197"/>
            <a:ext cx="48183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Рисунок: Сравнение </a:t>
            </a:r>
            <a:r>
              <a:rPr lang="en-US" dirty="0"/>
              <a:t>one-shot </a:t>
            </a:r>
            <a:r>
              <a:rPr lang="ru-RU" dirty="0"/>
              <a:t>и полного прогона графа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D1C7C7-C196-C54D-2BC2-DDD809AF8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7154" y="1713372"/>
            <a:ext cx="2134365" cy="4086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13083A-16EA-1494-BBD1-A5E5B445BF5D}"/>
              </a:ext>
            </a:extLst>
          </p:cNvPr>
          <p:cNvSpPr txBox="1"/>
          <p:nvPr/>
        </p:nvSpPr>
        <p:spPr>
          <a:xfrm>
            <a:off x="5792000" y="1896608"/>
            <a:ext cx="1308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GPT-5.5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EAB27B-A9BB-EF5C-1B5A-73D756F705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5611" y="1671166"/>
            <a:ext cx="2165572" cy="20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99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ru-RU" b="1" dirty="0"/>
              <a:t>Ожидаемые результаты продолжения проекта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b="1" dirty="0"/>
              <a:t>Исследовать и применить:</a:t>
            </a:r>
            <a:endParaRPr dirty="0"/>
          </a:p>
          <a:p>
            <a:pPr marL="685800" indent="-457200">
              <a:buFont typeface="+mj-lt"/>
              <a:buAutoNum type="arabicPeriod"/>
            </a:pPr>
            <a:r>
              <a:rPr lang="ru-RU" dirty="0"/>
              <a:t>Исследовать модельно-зависимый эффект</a:t>
            </a:r>
          </a:p>
          <a:p>
            <a:pPr marL="685800" indent="-457200">
              <a:buFont typeface="+mj-lt"/>
              <a:buAutoNum type="arabicPeriod"/>
            </a:pPr>
            <a:r>
              <a:rPr lang="ru-RU" dirty="0"/>
              <a:t>Планируется увеличить размер входных проектов и выполнять по три и более повтора, чтобы определить момент, после которого дополнительные вызовы перестают улучшать результат.</a:t>
            </a:r>
          </a:p>
          <a:p>
            <a:pPr marL="685800" indent="-457200">
              <a:buFont typeface="+mj-lt"/>
              <a:buAutoNum type="arabicPeriod"/>
            </a:pPr>
            <a:r>
              <a:rPr lang="ru-RU" dirty="0"/>
              <a:t>Проверить и получить лучшую оптимизацию запуска критика</a:t>
            </a:r>
          </a:p>
          <a:p>
            <a:pPr marL="685800" indent="-457200">
              <a:buFont typeface="+mj-lt"/>
              <a:buAutoNum type="arabicPeriod"/>
            </a:pPr>
            <a:r>
              <a:rPr lang="ru-RU" dirty="0"/>
              <a:t>Провести независимую проверку Gold-разметки двумя экспертами.</a:t>
            </a:r>
          </a:p>
          <a:p>
            <a:endParaRPr lang="ru-RU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Заключение </a:t>
            </a:r>
            <a:endParaRPr dirty="0"/>
          </a:p>
        </p:txBody>
      </p:sp>
      <p:sp>
        <p:nvSpPr>
          <p:cNvPr id="117" name="Google Shape;117;p14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>
            <a:off x="106516" y="1070556"/>
            <a:ext cx="12374989" cy="251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b="1" dirty="0"/>
              <a:t>Основной числовой вывод</a:t>
            </a:r>
          </a:p>
          <a:p>
            <a:r>
              <a:rPr lang="ru-RU" dirty="0"/>
              <a:t>Полный граф нашел больше и сократил число пропущенных связей с </a:t>
            </a:r>
            <a:r>
              <a:rPr lang="en-US" dirty="0"/>
              <a:t>~</a:t>
            </a:r>
            <a:r>
              <a:rPr lang="ru-RU" dirty="0"/>
              <a:t>65 до </a:t>
            </a:r>
            <a:r>
              <a:rPr lang="en-US" dirty="0"/>
              <a:t>~</a:t>
            </a:r>
            <a:r>
              <a:rPr lang="ru-RU" dirty="0"/>
              <a:t>13.</a:t>
            </a:r>
          </a:p>
          <a:p>
            <a:r>
              <a:rPr lang="ru-RU" b="1" dirty="0"/>
              <a:t>Реализованный результат</a:t>
            </a:r>
          </a:p>
          <a:p>
            <a:r>
              <a:rPr lang="ru-RU" dirty="0"/>
              <a:t>ФТ/НФТ → 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Cases</a:t>
            </a:r>
            <a:r>
              <a:rPr lang="ru-RU" dirty="0"/>
              <a:t> → </a:t>
            </a:r>
            <a:r>
              <a:rPr lang="ru-RU" dirty="0" err="1"/>
              <a:t>Activity</a:t>
            </a:r>
            <a:r>
              <a:rPr lang="ru-RU" dirty="0"/>
              <a:t> </a:t>
            </a:r>
            <a:r>
              <a:rPr lang="ru-RU" dirty="0" err="1"/>
              <a:t>Diagram</a:t>
            </a:r>
            <a:r>
              <a:rPr lang="ru-RU" dirty="0"/>
              <a:t> → </a:t>
            </a:r>
            <a:r>
              <a:rPr lang="ru-RU" dirty="0" err="1"/>
              <a:t>Mermaid</a:t>
            </a:r>
            <a:r>
              <a:rPr lang="ru-RU" dirty="0"/>
              <a:t> → </a:t>
            </a:r>
            <a:r>
              <a:rPr lang="ru-RU" dirty="0" err="1"/>
              <a:t>TraceManifest</a:t>
            </a:r>
            <a:r>
              <a:rPr lang="ru-RU" dirty="0"/>
              <a:t> → отчет о качестве</a:t>
            </a:r>
          </a:p>
          <a:p>
            <a:r>
              <a:rPr lang="ru-RU" dirty="0"/>
              <a:t>Два специализированных графа, корневой оркестратор, формальные валидаторы и </a:t>
            </a:r>
          </a:p>
          <a:p>
            <a:r>
              <a:rPr lang="ru-RU" dirty="0"/>
              <a:t>ограниченное исправление.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47686-9002-DC90-BA79-60CC0AD3BC3C}"/>
              </a:ext>
            </a:extLst>
          </p:cNvPr>
          <p:cNvSpPr txBox="1"/>
          <p:nvPr/>
        </p:nvSpPr>
        <p:spPr>
          <a:xfrm>
            <a:off x="351680" y="3630552"/>
            <a:ext cx="93582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/>
              <a:t>Крупные показатели </a:t>
            </a:r>
            <a:r>
              <a:rPr lang="ru-RU" sz="2000" b="1" dirty="0" err="1"/>
              <a:t>эксперементов</a:t>
            </a:r>
            <a:r>
              <a:rPr lang="ru-RU" sz="2000" b="1" dirty="0"/>
              <a:t> проекта</a:t>
            </a:r>
          </a:p>
          <a:p>
            <a:pPr>
              <a:buNone/>
            </a:pPr>
            <a:r>
              <a:rPr lang="ru-RU" sz="2000" b="1" dirty="0"/>
              <a:t>E2E на DEV20 × 3</a:t>
            </a:r>
            <a:endParaRPr lang="ru-RU" sz="2000" dirty="0"/>
          </a:p>
          <a:p>
            <a:pPr>
              <a:buNone/>
            </a:pPr>
            <a:r>
              <a:rPr lang="ru-RU" sz="2000" dirty="0"/>
              <a:t>Один вызов: 2/60 Полный граф: 60/60</a:t>
            </a:r>
          </a:p>
          <a:p>
            <a:pPr>
              <a:buNone/>
            </a:pPr>
            <a:r>
              <a:rPr lang="ru-RU" sz="2000" b="1" dirty="0"/>
              <a:t>Трассировка FR → </a:t>
            </a:r>
            <a:r>
              <a:rPr lang="ru-RU" sz="2000" b="1" dirty="0" err="1"/>
              <a:t>Use</a:t>
            </a:r>
            <a:r>
              <a:rPr lang="ru-RU" sz="2000" b="1" dirty="0"/>
              <a:t> Case</a:t>
            </a:r>
            <a:endParaRPr lang="ru-RU" sz="2000" dirty="0"/>
          </a:p>
          <a:p>
            <a:pPr>
              <a:buNone/>
            </a:pPr>
            <a:r>
              <a:rPr lang="ru-RU" sz="2000" dirty="0"/>
              <a:t>Gold: 315 ожидаемых связей</a:t>
            </a:r>
          </a:p>
          <a:p>
            <a:pPr>
              <a:buNone/>
            </a:pPr>
            <a:r>
              <a:rPr lang="ru-RU" sz="2000" b="1" dirty="0"/>
              <a:t>Один вызов: </a:t>
            </a:r>
            <a:r>
              <a:rPr lang="ru-RU" sz="2000" dirty="0"/>
              <a:t>TP = 250, FP = 6, FN = 65, Precision = 97,7%, </a:t>
            </a:r>
            <a:r>
              <a:rPr lang="ru-RU" sz="2000" dirty="0" err="1"/>
              <a:t>Recall</a:t>
            </a:r>
            <a:r>
              <a:rPr lang="ru-RU" sz="2000" dirty="0"/>
              <a:t> = 79,4%, F1 = 87,6%</a:t>
            </a:r>
          </a:p>
          <a:p>
            <a:pPr>
              <a:buNone/>
            </a:pPr>
            <a:r>
              <a:rPr lang="ru-RU" sz="2000" b="1" dirty="0"/>
              <a:t>Полный граф: </a:t>
            </a:r>
            <a:r>
              <a:rPr lang="ru-RU" sz="2000" dirty="0"/>
              <a:t>TP = 302, FP = 14, FN = 13, Precision = 95,6%, </a:t>
            </a:r>
            <a:r>
              <a:rPr lang="ru-RU" sz="2000" dirty="0" err="1"/>
              <a:t>Recall</a:t>
            </a:r>
            <a:r>
              <a:rPr lang="ru-RU" sz="2000" dirty="0"/>
              <a:t> = 95,9%, F1 = 95,7%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9CEE9210-4F71-0A8A-BB78-27A98C4F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>
            <a:extLst>
              <a:ext uri="{FF2B5EF4-FFF2-40B4-BE49-F238E27FC236}">
                <a16:creationId xmlns:a16="http://schemas.microsoft.com/office/drawing/2014/main" id="{70A344F8-E388-5D4F-1EB6-0057D937B0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ct val="100000"/>
            </a:pPr>
            <a:r>
              <a:rPr lang="ru-RU" dirty="0"/>
              <a:t>Список источников</a:t>
            </a:r>
            <a:endParaRPr dirty="0"/>
          </a:p>
        </p:txBody>
      </p:sp>
      <p:sp>
        <p:nvSpPr>
          <p:cNvPr id="124" name="Google Shape;124;p8">
            <a:extLst>
              <a:ext uri="{FF2B5EF4-FFF2-40B4-BE49-F238E27FC236}">
                <a16:creationId xmlns:a16="http://schemas.microsoft.com/office/drawing/2014/main" id="{600BBDB1-4BFD-0AB6-FB82-DDC4C4C80B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  <p:sp>
        <p:nvSpPr>
          <p:cNvPr id="125" name="Google Shape;125;p8">
            <a:extLst>
              <a:ext uri="{FF2B5EF4-FFF2-40B4-BE49-F238E27FC236}">
                <a16:creationId xmlns:a16="http://schemas.microsoft.com/office/drawing/2014/main" id="{957764DC-9A00-69CD-0A39-A7D273196C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11348194" cy="533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SzPct val="100000"/>
            </a:pPr>
            <a:r>
              <a:rPr lang="en" sz="1600" dirty="0">
                <a:latin typeface="+mn-lt"/>
              </a:rPr>
              <a:t>[1] Alessio Ferrari, Sallam </a:t>
            </a:r>
            <a:r>
              <a:rPr lang="en" sz="1600" dirty="0" err="1">
                <a:latin typeface="+mn-lt"/>
              </a:rPr>
              <a:t>Abualhaija</a:t>
            </a:r>
            <a:r>
              <a:rPr lang="en" sz="1600" dirty="0">
                <a:latin typeface="+mn-lt"/>
              </a:rPr>
              <a:t>, Chetan Arora, “Model Generation with LLMs: From Requirements to UML Sequence Diagrams”, Proceedings of the 32nd IEEE International Requirements Engineering Conference Workshops (REW 2024), pp. 291–300, 2024. DOI: 10.1109/REW61692.2024.00044.</a:t>
            </a:r>
            <a:endParaRPr lang="ru-RU" sz="1600" dirty="0">
              <a:latin typeface="+mn-lt"/>
            </a:endParaRPr>
          </a:p>
          <a:p>
            <a:pPr marL="0" lvl="0" indent="0">
              <a:buSzPct val="100000"/>
            </a:pPr>
            <a:r>
              <a:rPr lang="en" sz="1600" dirty="0">
                <a:latin typeface="+mn-lt"/>
              </a:rPr>
              <a:t>[2] </a:t>
            </a:r>
            <a:r>
              <a:rPr lang="en" sz="1600" dirty="0" err="1">
                <a:latin typeface="+mn-lt"/>
              </a:rPr>
              <a:t>Polydoros</a:t>
            </a:r>
            <a:r>
              <a:rPr lang="en" sz="1600" dirty="0">
                <a:latin typeface="+mn-lt"/>
              </a:rPr>
              <a:t> </a:t>
            </a:r>
            <a:r>
              <a:rPr lang="en" sz="1600" dirty="0" err="1">
                <a:latin typeface="+mn-lt"/>
              </a:rPr>
              <a:t>Giannouris</a:t>
            </a:r>
            <a:r>
              <a:rPr lang="en" sz="1600" dirty="0">
                <a:latin typeface="+mn-lt"/>
              </a:rPr>
              <a:t>, Sophia </a:t>
            </a:r>
            <a:r>
              <a:rPr lang="en" sz="1600" dirty="0" err="1">
                <a:latin typeface="+mn-lt"/>
              </a:rPr>
              <a:t>Ananiadou</a:t>
            </a:r>
            <a:r>
              <a:rPr lang="en" sz="1600" dirty="0">
                <a:latin typeface="+mn-lt"/>
              </a:rPr>
              <a:t>, “NOMAD: A Multi-Agent LLM System for UML Class Diagram Generation from Natural Language Requirements”, </a:t>
            </a:r>
            <a:r>
              <a:rPr lang="en" sz="1600" dirty="0" err="1">
                <a:latin typeface="+mn-lt"/>
              </a:rPr>
              <a:t>arXiv</a:t>
            </a:r>
            <a:r>
              <a:rPr lang="en" sz="1600" dirty="0">
                <a:latin typeface="+mn-lt"/>
              </a:rPr>
              <a:t> preprint arXiv:2511.22409, 2025.</a:t>
            </a:r>
            <a:endParaRPr lang="ru-RU" sz="1600" dirty="0">
              <a:latin typeface="+mn-lt"/>
            </a:endParaRPr>
          </a:p>
          <a:p>
            <a:pPr marL="0" lvl="0" indent="0">
              <a:buSzPct val="100000"/>
            </a:pPr>
            <a:r>
              <a:rPr lang="en" sz="1600" dirty="0">
                <a:latin typeface="+mn-lt"/>
              </a:rPr>
              <a:t>[3] Oleg Baryshnikov, Anton M. Alekseev, Sergey I. Nikolenko, “Query2Diagram: Answering Developer Queries with UML Diagrams”, </a:t>
            </a:r>
            <a:r>
              <a:rPr lang="en" sz="1600" dirty="0" err="1">
                <a:latin typeface="+mn-lt"/>
              </a:rPr>
              <a:t>arXiv</a:t>
            </a:r>
            <a:r>
              <a:rPr lang="en" sz="1600" dirty="0">
                <a:latin typeface="+mn-lt"/>
              </a:rPr>
              <a:t> preprint arXiv:2604.23816, 2026.</a:t>
            </a:r>
            <a:endParaRPr lang="ru-RU" sz="1600" dirty="0">
              <a:latin typeface="+mn-lt"/>
            </a:endParaRPr>
          </a:p>
          <a:p>
            <a:pPr marL="0" lvl="0" indent="0">
              <a:buSzPct val="100000"/>
            </a:pPr>
            <a:r>
              <a:rPr lang="ru-RU" sz="1600" dirty="0">
                <a:latin typeface="+mn-lt"/>
              </a:rPr>
              <a:t>[</a:t>
            </a:r>
            <a:r>
              <a:rPr lang="en" sz="1600" dirty="0">
                <a:latin typeface="+mn-lt"/>
              </a:rPr>
              <a:t>4] Bastian Franze, Dominik </a:t>
            </a:r>
            <a:r>
              <a:rPr lang="en" sz="1600" dirty="0" err="1">
                <a:latin typeface="+mn-lt"/>
              </a:rPr>
              <a:t>Fuchß</a:t>
            </a:r>
            <a:r>
              <a:rPr lang="en" sz="1600" dirty="0">
                <a:latin typeface="+mn-lt"/>
              </a:rPr>
              <a:t>, Friedrich Wattenberg, Till Fuchs, Jan Keim, Tobias Hey, “[Automated Generation of </a:t>
            </a:r>
            <a:r>
              <a:rPr lang="en" sz="1600" dirty="0" err="1">
                <a:latin typeface="+mn-lt"/>
              </a:rPr>
              <a:t>SysML</a:t>
            </a:r>
            <a:r>
              <a:rPr lang="en" sz="1600" dirty="0">
                <a:latin typeface="+mn-lt"/>
              </a:rPr>
              <a:t> Activity Diagrams from Industrial Requirements Using LLMs](https://</a:t>
            </a:r>
            <a:r>
              <a:rPr lang="en" sz="1600" dirty="0" err="1">
                <a:latin typeface="+mn-lt"/>
              </a:rPr>
              <a:t>publikationen.bibliothek.kit.edu</a:t>
            </a:r>
            <a:r>
              <a:rPr lang="en" sz="1600" dirty="0">
                <a:latin typeface="+mn-lt"/>
              </a:rPr>
              <a:t>/1000194327)”, IEEE 34th International Requirements Engineering Conference (RE 2026), Industrial Innovation Papers, 11 pp., 2026. DOI: 10.5445/IR/1000194327.</a:t>
            </a:r>
          </a:p>
          <a:p>
            <a:pPr marL="0" lvl="0" indent="0">
              <a:buSzPct val="100000"/>
            </a:pPr>
            <a:r>
              <a:rPr lang="en" sz="1600" dirty="0">
                <a:latin typeface="+mn-lt"/>
              </a:rPr>
              <a:t>[5] Mojdeh Rahmanian, Ashkan Sami, </a:t>
            </a:r>
            <a:r>
              <a:rPr lang="en" sz="1600" dirty="0" err="1">
                <a:latin typeface="+mn-lt"/>
              </a:rPr>
              <a:t>Yanchao</a:t>
            </a:r>
            <a:r>
              <a:rPr lang="en" sz="1600" dirty="0">
                <a:latin typeface="+mn-lt"/>
              </a:rPr>
              <a:t> Yu, “[Large Language Models for Software Engineering Diagrams: A Systematic Review of UML and ER Modelling](https://</a:t>
            </a:r>
            <a:r>
              <a:rPr lang="en" sz="1600" dirty="0" err="1">
                <a:latin typeface="+mn-lt"/>
              </a:rPr>
              <a:t>arxiv.org</a:t>
            </a:r>
            <a:r>
              <a:rPr lang="en" sz="1600" dirty="0">
                <a:latin typeface="+mn-lt"/>
              </a:rPr>
              <a:t>/abs/2607.26100)”, </a:t>
            </a:r>
            <a:r>
              <a:rPr lang="en" sz="1600" dirty="0" err="1">
                <a:latin typeface="+mn-lt"/>
              </a:rPr>
              <a:t>arXiv</a:t>
            </a:r>
            <a:r>
              <a:rPr lang="en" sz="1600" dirty="0">
                <a:latin typeface="+mn-lt"/>
              </a:rPr>
              <a:t> preprint arXiv:2607.26100, 2026. DOI: 10.48550/arXiv.2607.26100.</a:t>
            </a:r>
          </a:p>
        </p:txBody>
      </p:sp>
    </p:spTree>
    <p:extLst>
      <p:ext uri="{BB962C8B-B14F-4D97-AF65-F5344CB8AC3E}">
        <p14:creationId xmlns:p14="http://schemas.microsoft.com/office/powerpoint/2010/main" val="772495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64ACAFE-8B91-7640-7209-5BCF2DE03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056" y="1800664"/>
            <a:ext cx="2215662" cy="22156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5C84D2EA-226E-4064-B814-712D235EB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>
            <a:extLst>
              <a:ext uri="{FF2B5EF4-FFF2-40B4-BE49-F238E27FC236}">
                <a16:creationId xmlns:a16="http://schemas.microsoft.com/office/drawing/2014/main" id="{A125DE1B-C247-25BA-02E7-5C32E4DC6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Дополнительно: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28" name="Google Shape;128;p12">
            <a:extLst>
              <a:ext uri="{FF2B5EF4-FFF2-40B4-BE49-F238E27FC236}">
                <a16:creationId xmlns:a16="http://schemas.microsoft.com/office/drawing/2014/main" id="{50E24020-2752-E7D8-E32A-4A617F47CE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25</a:t>
            </a:fld>
            <a:endParaRPr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BBAB3F-985E-0FAE-B5BE-D68EAB393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2" y="1237316"/>
            <a:ext cx="11308644" cy="475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11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Дополнительно: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28" name="Google Shape;128;p12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C88378-2EED-DA58-4C08-2DB4937C829D}"/>
              </a:ext>
            </a:extLst>
          </p:cNvPr>
          <p:cNvSpPr txBox="1"/>
          <p:nvPr/>
        </p:nvSpPr>
        <p:spPr>
          <a:xfrm>
            <a:off x="421532" y="2856264"/>
            <a:ext cx="5278624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ru-RU" sz="1400" b="1" dirty="0">
                <a:solidFill>
                  <a:srgbClr val="000000"/>
                </a:solidFill>
                <a:effectLst/>
                <a:latin typeface="Arial"/>
                <a:ea typeface="Times New Roman" panose="02020603050405020304" pitchFamily="18" charset="0"/>
                <a:cs typeface="Times New Roman" panose="02020603050405020304" pitchFamily="18" charset="0"/>
              </a:rPr>
              <a:t>Что такое E2E</a:t>
            </a:r>
          </a:p>
          <a:p>
            <a:pPr>
              <a:buNone/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E2E </a:t>
            </a:r>
            <a:r>
              <a:rPr lang="en-US" sz="1400" dirty="0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-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 End-</a:t>
            </a:r>
            <a:r>
              <a:rPr lang="ru-RU" sz="1400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to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-End </a:t>
            </a:r>
            <a:r>
              <a:rPr lang="ru-RU" sz="1400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success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 (успешное сквозное выполнение)</a:t>
            </a:r>
            <a:r>
              <a:rPr lang="en-US" sz="1400" dirty="0">
                <a:effectLst/>
                <a:latin typeface="Arial"/>
                <a:ea typeface="Times New Roman" panose="02020603050405020304" pitchFamily="18" charset="0"/>
              </a:rPr>
              <a:t>:</a:t>
            </a:r>
            <a:br>
              <a:rPr lang="en-US" sz="1400" dirty="0">
                <a:effectLst/>
                <a:latin typeface="Arial"/>
                <a:ea typeface="Times New Roman" panose="02020603050405020304" pitchFamily="18" charset="0"/>
              </a:rPr>
            </a:b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бинарный результат одного запуска.</a:t>
            </a:r>
          </a:p>
          <a:p>
            <a:pPr>
              <a:buNone/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Запуск получает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, только если одновременно: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результат соответствует JSON/</a:t>
            </a:r>
            <a:r>
              <a:rPr lang="ru-RU" sz="1400" dirty="0" err="1">
                <a:effectLst/>
                <a:latin typeface="Arial"/>
                <a:ea typeface="Times New Roman" panose="02020603050405020304" pitchFamily="18" charset="0"/>
              </a:rPr>
              <a:t>Pydantic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-схеме;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функциональные требования покрыты;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ссылки между объектами существуют;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UC и </a:t>
            </a:r>
            <a:r>
              <a:rPr lang="ru-RU" sz="1400" dirty="0" err="1">
                <a:effectLst/>
                <a:latin typeface="Arial"/>
                <a:ea typeface="Times New Roman" panose="02020603050405020304" pitchFamily="18" charset="0"/>
              </a:rPr>
              <a:t>Activity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 имеют полную трассировку;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 err="1">
                <a:effectLst/>
                <a:latin typeface="Arial"/>
                <a:ea typeface="Times New Roman" panose="02020603050405020304" pitchFamily="18" charset="0"/>
              </a:rPr>
              <a:t>Activity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-диаграммы структурно корректны;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 err="1">
                <a:effectLst/>
                <a:latin typeface="Arial"/>
                <a:ea typeface="Times New Roman" panose="02020603050405020304" pitchFamily="18" charset="0"/>
              </a:rPr>
              <a:t>Mermaid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 успешно формируется;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нет блокирующих ошибок.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979D2-A913-256A-E1E9-1BCED01B1832}"/>
              </a:ext>
            </a:extLst>
          </p:cNvPr>
          <p:cNvSpPr txBox="1"/>
          <p:nvPr/>
        </p:nvSpPr>
        <p:spPr>
          <a:xfrm>
            <a:off x="5978280" y="956351"/>
            <a:ext cx="609797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b="1" dirty="0"/>
              <a:t>Данные проекта: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30 синтетических </a:t>
            </a:r>
            <a:r>
              <a:rPr lang="en" sz="1200" dirty="0" err="1"/>
              <a:t>SpecificationReq</a:t>
            </a:r>
            <a:r>
              <a:rPr lang="en" sz="1200" dirty="0"/>
              <a:t>: 20 </a:t>
            </a:r>
            <a:r>
              <a:rPr lang="ru-RU" sz="1200" dirty="0"/>
              <a:t>для разработки, 10 скрытых.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Русские и английские бизнес-сценарии трёх уровней сложности.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Дополнительно: 20 проектов с 6–74 функциональными требованиями для проверки масштабируемости.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b="1" dirty="0"/>
              <a:t>Предобработка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Проверка входного </a:t>
            </a:r>
            <a:r>
              <a:rPr lang="en" sz="1200" dirty="0"/>
              <a:t>JSON</a:t>
            </a:r>
            <a:r>
              <a:rPr lang="ru-RU" sz="1200" dirty="0"/>
              <a:t>, нормализация текста требований, присвоение идентификаторов </a:t>
            </a:r>
            <a:r>
              <a:rPr lang="en" sz="1200" dirty="0"/>
              <a:t>FR-001… </a:t>
            </a:r>
            <a:r>
              <a:rPr lang="ru-RU" sz="1200" dirty="0"/>
              <a:t>и </a:t>
            </a:r>
            <a:r>
              <a:rPr lang="en" sz="1200" dirty="0"/>
              <a:t>NFR-001…</a:t>
            </a:r>
            <a:r>
              <a:rPr lang="ru-RU" sz="1200" dirty="0"/>
              <a:t>, разбиение составных требований на проверяемые части.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b="1" dirty="0"/>
              <a:t>Модель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Два специализированных агента в </a:t>
            </a:r>
            <a:r>
              <a:rPr lang="en" sz="1200" dirty="0" err="1"/>
              <a:t>LangGraph</a:t>
            </a:r>
            <a:r>
              <a:rPr lang="en" sz="1200" dirty="0"/>
              <a:t>.</a:t>
            </a:r>
            <a:endParaRPr lang="ru-RU" sz="1200" dirty="0"/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Агент </a:t>
            </a:r>
            <a:r>
              <a:rPr lang="en" sz="1200" dirty="0"/>
              <a:t>Use Case → </a:t>
            </a:r>
            <a:r>
              <a:rPr lang="ru-RU" sz="1200" dirty="0"/>
              <a:t>агент </a:t>
            </a:r>
            <a:r>
              <a:rPr lang="en" sz="1200" dirty="0"/>
              <a:t>Activity Diagram.</a:t>
            </a:r>
            <a:endParaRPr lang="ru-RU" sz="1200" dirty="0"/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Корневой оркестратор, валидаторы и ограниченное исправление.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Основная </a:t>
            </a:r>
            <a:r>
              <a:rPr lang="en" sz="1200" dirty="0"/>
              <a:t>LLM: DeepSeek Flash; </a:t>
            </a:r>
            <a:r>
              <a:rPr lang="ru-RU" sz="1200" dirty="0"/>
              <a:t>сравнение с </a:t>
            </a:r>
            <a:r>
              <a:rPr lang="en" sz="1200" dirty="0"/>
              <a:t>GPT-5.5 </a:t>
            </a:r>
            <a:r>
              <a:rPr lang="ru-RU" sz="1200" dirty="0"/>
              <a:t>и </a:t>
            </a:r>
            <a:r>
              <a:rPr lang="en" sz="1200" dirty="0"/>
              <a:t>Claude Opus 5.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b="1" dirty="0"/>
              <a:t>Обучение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Использовались готовые </a:t>
            </a:r>
            <a:r>
              <a:rPr lang="en" sz="1200" dirty="0"/>
              <a:t>LLM </a:t>
            </a:r>
            <a:r>
              <a:rPr lang="ru-RU" sz="1200" dirty="0"/>
              <a:t>с фиксированными инструкциями и структурированным </a:t>
            </a:r>
            <a:r>
              <a:rPr lang="en" sz="1200" dirty="0"/>
              <a:t>JSON-</a:t>
            </a:r>
            <a:r>
              <a:rPr lang="ru-RU" sz="1200" dirty="0"/>
              <a:t>выводом.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en" sz="1200" dirty="0"/>
              <a:t>Development-</a:t>
            </a:r>
            <a:r>
              <a:rPr lang="ru-RU" sz="1200" dirty="0"/>
              <a:t>набор применялся для отладки; скрытая часть — только для итоговой проверки.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b="1" dirty="0"/>
              <a:t>Оценка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Полнота и точность: </a:t>
            </a:r>
            <a:r>
              <a:rPr lang="en" sz="1200" dirty="0"/>
              <a:t>Actor, Use Case, Milestone, Branch </a:t>
            </a:r>
            <a:r>
              <a:rPr lang="ru-RU" sz="1200" dirty="0"/>
              <a:t>и </a:t>
            </a:r>
            <a:r>
              <a:rPr lang="en" sz="1200" dirty="0"/>
              <a:t>Trace F1.</a:t>
            </a:r>
            <a:endParaRPr lang="ru-RU" sz="1200" dirty="0"/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Надёжность: успешность полного запуска и стабильность повторов.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Эффективность: время, число вызовов, токены и стоимость.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SzPct val="100000"/>
            </a:pPr>
            <a:r>
              <a:rPr lang="ru-RU" sz="1200" dirty="0"/>
              <a:t>Формальная проверка: схемы, структура графа и полнота трассировки.</a:t>
            </a:r>
            <a:endParaRPr lang="ru-RU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0B6FA-8B9B-ED9F-AF9A-2314A143AB24}"/>
              </a:ext>
            </a:extLst>
          </p:cNvPr>
          <p:cNvSpPr txBox="1"/>
          <p:nvPr/>
        </p:nvSpPr>
        <p:spPr>
          <a:xfrm>
            <a:off x="421532" y="1138615"/>
            <a:ext cx="539602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Актор</a:t>
            </a:r>
            <a:r>
              <a:rPr lang="ru-RU" dirty="0"/>
              <a:t> — внешняя роль, которая взаимодействует с системой.</a:t>
            </a:r>
          </a:p>
          <a:p>
            <a:r>
              <a:rPr lang="ru-RU" dirty="0"/>
              <a:t>не обязательно человек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Customer (Покупатель);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Cafe </a:t>
            </a:r>
            <a:r>
              <a:rPr lang="ru-RU" dirty="0" err="1"/>
              <a:t>employee</a:t>
            </a:r>
            <a:r>
              <a:rPr lang="ru-RU" dirty="0"/>
              <a:t> (Сотрудник кафе);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Payment</a:t>
            </a:r>
            <a:r>
              <a:rPr lang="ru-RU" dirty="0"/>
              <a:t> </a:t>
            </a:r>
            <a:r>
              <a:rPr lang="ru-RU" dirty="0" err="1"/>
              <a:t>service</a:t>
            </a:r>
            <a:r>
              <a:rPr lang="ru-RU" dirty="0"/>
              <a:t> (Платёжный сервис);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Administrator (</a:t>
            </a:r>
            <a:r>
              <a:rPr lang="ru-RU" dirty="0"/>
              <a:t>Администратор</a:t>
            </a:r>
            <a:r>
              <a:rPr lang="en-US" dirty="0"/>
              <a:t>).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3DF65537-E9C2-6701-39C5-0D145022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>
            <a:extLst>
              <a:ext uri="{FF2B5EF4-FFF2-40B4-BE49-F238E27FC236}">
                <a16:creationId xmlns:a16="http://schemas.microsoft.com/office/drawing/2014/main" id="{4048113C-AD3E-E9B8-656F-12AF4ECEC6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Дополнительно: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28" name="Google Shape;128;p12">
            <a:extLst>
              <a:ext uri="{FF2B5EF4-FFF2-40B4-BE49-F238E27FC236}">
                <a16:creationId xmlns:a16="http://schemas.microsoft.com/office/drawing/2014/main" id="{1F1D788D-869B-1824-5D16-CA52A9BC86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27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963292-0B08-0A40-B209-C69ACC68631C}"/>
              </a:ext>
            </a:extLst>
          </p:cNvPr>
          <p:cNvSpPr txBox="1"/>
          <p:nvPr/>
        </p:nvSpPr>
        <p:spPr>
          <a:xfrm>
            <a:off x="421532" y="1021404"/>
            <a:ext cx="609797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Gold-разметка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 — заранее подготовленный эталон смыслового содержания: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b="1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Actor</a:t>
            </a: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1400" b="1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slots</a:t>
            </a: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</a:rPr>
              <a:t> (акторы)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— роли пользователей и допустимые синонимы;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b="1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Use</a:t>
            </a: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 Case </a:t>
            </a:r>
            <a:r>
              <a:rPr lang="ru-RU" sz="1400" b="1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slots</a:t>
            </a: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</a:rPr>
              <a:t> (варианты использования)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— ожидаемые пользовательские цели;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b="1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required_milestones</a:t>
            </a: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</a:rPr>
              <a:t> (обязательные этапы)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— ключевые события основного сценария;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b="1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required_branches</a:t>
            </a: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</a:rPr>
              <a:t> (обязательные ветвления)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— исключения, отказы и альтернативы;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FR </a:t>
            </a:r>
            <a:r>
              <a:rPr lang="ru-RU" sz="1400" b="1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coverage</a:t>
            </a: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</a:rPr>
              <a:t> (покрытие ФТ)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— какие функциональные требования должны быть отражены;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NFR </a:t>
            </a:r>
            <a:r>
              <a:rPr lang="ru-RU" sz="1400" b="1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expectations</a:t>
            </a: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</a:rPr>
              <a:t> (ожидания по НФТ)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— какие нефункциональные требования нельзя потерять;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b="1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trace_expectations</a:t>
            </a: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</a:rPr>
              <a:t> (ожидаемая трассировка)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— правильные связи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FR → UC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b="1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forbidden_assumptions</a:t>
            </a: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</a:rPr>
              <a:t> (запрещённые предположения)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— что система не должна додумывать;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b="1" dirty="0" err="1">
                <a:effectLst/>
                <a:latin typeface="Arial"/>
                <a:ea typeface="Times New Roman" panose="02020603050405020304" pitchFamily="18" charset="0"/>
                <a:cs typeface="Courier New" panose="02070309020205020404" pitchFamily="49" charset="0"/>
              </a:rPr>
              <a:t>equivalence_policy</a:t>
            </a: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</a:rPr>
              <a:t> (правила эквивалентности)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— разрешённые синонимы, переименование, разделение/объединение UC и другое расположение элементов.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DE1961-ED91-B304-CF9C-D278FF114DD9}"/>
              </a:ext>
            </a:extLst>
          </p:cNvPr>
          <p:cNvSpPr txBox="1"/>
          <p:nvPr/>
        </p:nvSpPr>
        <p:spPr>
          <a:xfrm>
            <a:off x="421532" y="5638052"/>
            <a:ext cx="6097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Эти параметры отвечают на пять основных вопросов: кто пользуется системой, какую цель он достигает, как развивается сценарий, какие существуют альтернативы и откуда взялся каждый элемент результата.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6CC9C-93FA-BFF5-64B9-C336F51E4403}"/>
              </a:ext>
            </a:extLst>
          </p:cNvPr>
          <p:cNvSpPr txBox="1"/>
          <p:nvPr/>
        </p:nvSpPr>
        <p:spPr>
          <a:xfrm>
            <a:off x="7317928" y="693265"/>
            <a:ext cx="3655497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В</a:t>
            </a:r>
            <a:r>
              <a:rPr lang="ru-RU" dirty="0"/>
              <a:t> </a:t>
            </a:r>
            <a:r>
              <a:rPr lang="ru-RU" b="1" dirty="0" err="1"/>
              <a:t>evaluator</a:t>
            </a:r>
            <a:r>
              <a:rPr lang="ru-RU" b="1" dirty="0"/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акторы сопоставляются с эталонными ролями;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Cases</a:t>
            </a:r>
            <a:r>
              <a:rPr lang="ru-RU" dirty="0"/>
              <a:t> сопоставляются с эталонными процессами;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этапы сопоставляются с обязательными действиями;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ветвления — с обязательными условиями и исходами;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 err="1"/>
              <a:t>Trace</a:t>
            </a:r>
            <a:r>
              <a:rPr lang="ru-RU" dirty="0"/>
              <a:t> F1 сравнивает пары </a:t>
            </a:r>
            <a:r>
              <a:rPr lang="ru-RU" dirty="0">
                <a:latin typeface="Arial"/>
              </a:rPr>
              <a:t>FR → UC</a:t>
            </a:r>
            <a:r>
              <a:rPr lang="ru-RU" dirty="0"/>
              <a:t>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допустимые синонимы перечислены в Gold-разметке;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одному эталонному элементу соответствует не более одного сгенерированного элемента.</a:t>
            </a:r>
          </a:p>
          <a:p>
            <a:pPr>
              <a:buNone/>
            </a:pPr>
            <a:r>
              <a:rPr lang="ru-RU" dirty="0"/>
              <a:t>Для итоговых прогонов использовалось многоязычное семантическое сопоставление </a:t>
            </a:r>
            <a:r>
              <a:rPr lang="ru-RU" dirty="0">
                <a:latin typeface="Arial"/>
              </a:rPr>
              <a:t>paraphrase-multilingual-MiniLM-L12-v2</a:t>
            </a:r>
            <a:r>
              <a:rPr lang="ru-RU" dirty="0"/>
              <a:t>. Порог совпадения составляет </a:t>
            </a:r>
            <a:r>
              <a:rPr lang="ru-RU" dirty="0">
                <a:latin typeface="Arial"/>
              </a:rPr>
              <a:t>0,62</a:t>
            </a:r>
            <a:r>
              <a:rPr lang="ru-RU" dirty="0"/>
              <a:t> для акторов и этапов и </a:t>
            </a:r>
            <a:r>
              <a:rPr lang="ru-RU" dirty="0">
                <a:latin typeface="Arial"/>
              </a:rPr>
              <a:t>0,55</a:t>
            </a:r>
            <a:r>
              <a:rPr lang="ru-RU" dirty="0"/>
              <a:t> для 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Cases</a:t>
            </a:r>
            <a:r>
              <a:rPr lang="ru-RU" dirty="0"/>
              <a:t> и ветвлений.</a:t>
            </a:r>
          </a:p>
        </p:txBody>
      </p:sp>
    </p:spTree>
    <p:extLst>
      <p:ext uri="{BB962C8B-B14F-4D97-AF65-F5344CB8AC3E}">
        <p14:creationId xmlns:p14="http://schemas.microsoft.com/office/powerpoint/2010/main" val="292318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4CDE921-BFC1-9A21-590B-886E6749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>
            <a:extLst>
              <a:ext uri="{FF2B5EF4-FFF2-40B4-BE49-F238E27FC236}">
                <a16:creationId xmlns:a16="http://schemas.microsoft.com/office/drawing/2014/main" id="{90910764-00A0-F30B-7282-BBD903162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Дополнительно: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28" name="Google Shape;128;p12">
            <a:extLst>
              <a:ext uri="{FF2B5EF4-FFF2-40B4-BE49-F238E27FC236}">
                <a16:creationId xmlns:a16="http://schemas.microsoft.com/office/drawing/2014/main" id="{D9E268A3-F16C-0797-4446-71672B90AE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28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02874B-A1C7-D31A-048E-9005B5442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1" y="943785"/>
            <a:ext cx="10737006" cy="591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66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495B578B-F9B3-1FC9-94C2-FC7655068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>
            <a:extLst>
              <a:ext uri="{FF2B5EF4-FFF2-40B4-BE49-F238E27FC236}">
                <a16:creationId xmlns:a16="http://schemas.microsoft.com/office/drawing/2014/main" id="{DFBE9C6B-192B-733B-4E97-42D6A70802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Дополнительно (формулы):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28" name="Google Shape;128;p12">
            <a:extLst>
              <a:ext uri="{FF2B5EF4-FFF2-40B4-BE49-F238E27FC236}">
                <a16:creationId xmlns:a16="http://schemas.microsoft.com/office/drawing/2014/main" id="{8214E372-69F0-8CFB-4A43-BC769E41C9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2120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7A3BF-9E6D-A427-CC70-896211CD59D8}"/>
              </a:ext>
            </a:extLst>
          </p:cNvPr>
          <p:cNvSpPr txBox="1"/>
          <p:nvPr/>
        </p:nvSpPr>
        <p:spPr>
          <a:xfrm>
            <a:off x="6780628" y="1021404"/>
            <a:ext cx="510612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ru-RU" b="1" dirty="0"/>
              <a:t>E2E </a:t>
            </a:r>
            <a:r>
              <a:rPr lang="ru-RU" b="1" dirty="0" err="1"/>
              <a:t>success</a:t>
            </a:r>
            <a:r>
              <a:rPr lang="ru-RU" b="1" dirty="0"/>
              <a:t> — успешность полного запуска</a:t>
            </a:r>
          </a:p>
          <a:p>
            <a:pPr>
              <a:spcBef>
                <a:spcPts val="600"/>
              </a:spcBef>
              <a:buNone/>
            </a:pPr>
            <a:r>
              <a:rPr lang="ru-RU" dirty="0"/>
              <a:t>Где определяется: итоговый статус корневого графа.</a:t>
            </a:r>
          </a:p>
          <a:p>
            <a:pPr>
              <a:spcBef>
                <a:spcPts val="600"/>
              </a:spcBef>
              <a:buNone/>
            </a:pPr>
            <a:r>
              <a:rPr lang="ru-RU" b="1" dirty="0"/>
              <a:t>E2E </a:t>
            </a:r>
            <a:r>
              <a:rPr lang="ru-RU" b="1" dirty="0" err="1"/>
              <a:t>success</a:t>
            </a:r>
            <a:r>
              <a:rPr lang="ru-RU" b="1" dirty="0"/>
              <a:t> </a:t>
            </a:r>
            <a:r>
              <a:rPr lang="ru-RU" b="1" dirty="0" err="1"/>
              <a:t>rate</a:t>
            </a:r>
            <a:r>
              <a:rPr lang="ru-RU" b="1" dirty="0"/>
              <a:t> </a:t>
            </a:r>
            <a:r>
              <a:rPr lang="ru-RU" dirty="0"/>
              <a:t>= успешные полные запуски / все запуски</a:t>
            </a:r>
          </a:p>
          <a:p>
            <a:endParaRPr lang="en-US" b="1" dirty="0"/>
          </a:p>
          <a:p>
            <a:r>
              <a:rPr lang="ru-RU" b="1" dirty="0" err="1"/>
              <a:t>Actor</a:t>
            </a:r>
            <a:r>
              <a:rPr lang="ru-RU" b="1" dirty="0"/>
              <a:t> F1 </a:t>
            </a:r>
            <a:r>
              <a:rPr lang="ru-RU" dirty="0"/>
              <a:t>— акторы</a:t>
            </a:r>
            <a:br>
              <a:rPr lang="ru-RU" b="1" dirty="0">
                <a:latin typeface="Arial"/>
              </a:rPr>
            </a:br>
            <a:r>
              <a:rPr lang="ru-RU" dirty="0"/>
              <a:t>Сравниваются:</a:t>
            </a:r>
          </a:p>
          <a:p>
            <a:pPr lvl="0"/>
            <a:r>
              <a:rPr lang="ru-RU" dirty="0"/>
              <a:t>акторы, созданные системой;</a:t>
            </a:r>
          </a:p>
          <a:p>
            <a:pPr lvl="0"/>
            <a:r>
              <a:rPr lang="ru-RU" dirty="0"/>
              <a:t>акторы из Gold-разметки;</a:t>
            </a:r>
          </a:p>
          <a:p>
            <a:pPr lvl="0"/>
            <a:r>
              <a:rPr lang="ru-RU" dirty="0"/>
              <a:t>разрешённые синонимы, например Client, Customer, Пользователь.</a:t>
            </a:r>
          </a:p>
          <a:p>
            <a:r>
              <a:rPr lang="ru-RU" dirty="0"/>
              <a:t>Расчёт:</a:t>
            </a:r>
          </a:p>
          <a:p>
            <a:pPr lvl="0"/>
            <a:r>
              <a:rPr lang="ru-RU" dirty="0"/>
              <a:t>TP — правильно найденный актор;</a:t>
            </a:r>
          </a:p>
          <a:p>
            <a:pPr lvl="0"/>
            <a:r>
              <a:rPr lang="ru-RU" dirty="0"/>
              <a:t>FP — лишний актор;</a:t>
            </a:r>
          </a:p>
          <a:p>
            <a:pPr lvl="0"/>
            <a:r>
              <a:rPr lang="ru-RU" dirty="0"/>
              <a:t>FN — пропущенный актор;</a:t>
            </a:r>
          </a:p>
          <a:p>
            <a:pPr lvl="0"/>
            <a:br>
              <a:rPr lang="ru-RU" b="1" dirty="0">
                <a:latin typeface="Arial"/>
              </a:rPr>
            </a:br>
            <a:r>
              <a:rPr lang="ru-RU" b="1" dirty="0">
                <a:latin typeface="Arial"/>
              </a:rPr>
              <a:t>Precision</a:t>
            </a:r>
            <a:r>
              <a:rPr lang="ru-RU" dirty="0">
                <a:latin typeface="Arial"/>
              </a:rPr>
              <a:t> = TP / (TP + FP)</a:t>
            </a:r>
            <a:br>
              <a:rPr lang="ru-RU" dirty="0"/>
            </a:br>
            <a:r>
              <a:rPr lang="ru-RU" b="1" dirty="0" err="1">
                <a:latin typeface="Arial"/>
              </a:rPr>
              <a:t>Recall</a:t>
            </a:r>
            <a:r>
              <a:rPr lang="ru-RU" dirty="0">
                <a:latin typeface="Arial"/>
              </a:rPr>
              <a:t> = TP / (TP + FN)</a:t>
            </a:r>
            <a:br>
              <a:rPr lang="ru-RU" dirty="0"/>
            </a:br>
            <a:r>
              <a:rPr lang="ru-RU" b="1" dirty="0">
                <a:latin typeface="Arial"/>
              </a:rPr>
              <a:t>F1</a:t>
            </a:r>
            <a:r>
              <a:rPr lang="ru-RU" dirty="0">
                <a:latin typeface="Arial"/>
              </a:rPr>
              <a:t> = 2 × Precision × </a:t>
            </a:r>
            <a:r>
              <a:rPr lang="ru-RU" dirty="0" err="1">
                <a:latin typeface="Arial"/>
              </a:rPr>
              <a:t>Recall</a:t>
            </a:r>
            <a:r>
              <a:rPr lang="ru-RU" dirty="0">
                <a:latin typeface="Arial"/>
              </a:rPr>
              <a:t> / (Precision + </a:t>
            </a:r>
            <a:r>
              <a:rPr lang="ru-RU" dirty="0" err="1">
                <a:latin typeface="Arial"/>
              </a:rPr>
              <a:t>Recall</a:t>
            </a:r>
            <a:r>
              <a:rPr lang="ru-RU" dirty="0">
                <a:latin typeface="Arial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ru-RU" b="1" dirty="0"/>
              <a:t>UC F1 </a:t>
            </a:r>
            <a:r>
              <a:rPr lang="ru-RU" dirty="0"/>
              <a:t>— границы процессов. Сравниваются названия, связанные требования и допустимое разделение одного процесса на несколько 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Cases</a:t>
            </a:r>
            <a:r>
              <a:rPr lang="ru-RU" dirty="0"/>
              <a:t>.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04887D-B914-C171-52A3-3706C0378D3F}"/>
              </a:ext>
            </a:extLst>
          </p:cNvPr>
          <p:cNvSpPr txBox="1"/>
          <p:nvPr/>
        </p:nvSpPr>
        <p:spPr>
          <a:xfrm>
            <a:off x="421531" y="1021404"/>
            <a:ext cx="6359097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 err="1"/>
              <a:t>Activity</a:t>
            </a:r>
            <a:r>
              <a:rPr lang="ru-RU" b="1" dirty="0"/>
              <a:t> </a:t>
            </a:r>
            <a:r>
              <a:rPr lang="ru-RU" b="1" dirty="0" err="1"/>
              <a:t>coverage</a:t>
            </a:r>
            <a:r>
              <a:rPr lang="ru-RU" b="1" dirty="0"/>
              <a:t> </a:t>
            </a:r>
            <a:r>
              <a:rPr lang="ru-RU" dirty="0"/>
              <a:t>=узлы и рёбра со ссылками на шаги UC / все проверяемые узлы и рёбра</a:t>
            </a:r>
            <a:endParaRPr lang="ru-RU" dirty="0"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u-RU" b="1" dirty="0" err="1"/>
              <a:t>Coverage</a:t>
            </a:r>
            <a:r>
              <a:rPr lang="ru-RU" dirty="0"/>
              <a:t> — полнота трассировки</a:t>
            </a:r>
            <a:br>
              <a:rPr lang="ru-RU" dirty="0"/>
            </a:br>
            <a:r>
              <a:rPr lang="ru-RU" b="1" dirty="0"/>
              <a:t>FR </a:t>
            </a:r>
            <a:r>
              <a:rPr lang="ru-RU" b="1" dirty="0" err="1"/>
              <a:t>coverage</a:t>
            </a:r>
            <a:r>
              <a:rPr lang="ru-RU" b="1" dirty="0"/>
              <a:t> </a:t>
            </a:r>
            <a:r>
              <a:rPr lang="ru-RU" dirty="0"/>
              <a:t>= количество FR, связанных хотя бы с одним UC / общее количество входных FR</a:t>
            </a:r>
          </a:p>
          <a:p>
            <a:pPr>
              <a:spcBef>
                <a:spcPts val="600"/>
              </a:spcBef>
            </a:pPr>
            <a:r>
              <a:rPr lang="ru-RU" b="1" dirty="0" err="1"/>
              <a:t>Trace</a:t>
            </a:r>
            <a:r>
              <a:rPr lang="ru-RU" b="1" dirty="0"/>
              <a:t> F1 </a:t>
            </a:r>
            <a:r>
              <a:rPr lang="ru-RU" dirty="0"/>
              <a:t>— правильность связей</a:t>
            </a:r>
          </a:p>
          <a:p>
            <a:pPr>
              <a:spcBef>
                <a:spcPts val="600"/>
              </a:spcBef>
            </a:pPr>
            <a:r>
              <a:rPr lang="ru-RU" dirty="0"/>
              <a:t>Где определяется: пары FR → UC, записанные в </a:t>
            </a:r>
            <a:r>
              <a:rPr lang="ru-RU" dirty="0" err="1"/>
              <a:t>source_fr_ids</a:t>
            </a:r>
            <a:r>
              <a:rPr lang="ru-RU" dirty="0"/>
              <a:t>, сравниваются с Gold.</a:t>
            </a:r>
          </a:p>
          <a:p>
            <a:pPr>
              <a:spcBef>
                <a:spcPts val="600"/>
              </a:spcBef>
            </a:pPr>
            <a:r>
              <a:rPr lang="ru-RU" dirty="0"/>
              <a:t>Если система записала FR-008 → UC-001, хотя в Gold такой связи нет, это FP. Если пропустила FR-005 → UC-001, это FN.</a:t>
            </a:r>
          </a:p>
          <a:p>
            <a:pPr>
              <a:spcBef>
                <a:spcPts val="600"/>
              </a:spcBef>
              <a:buNone/>
            </a:pPr>
            <a:r>
              <a:rPr lang="ru-RU" dirty="0"/>
              <a:t>Различие:</a:t>
            </a:r>
          </a:p>
          <a:p>
            <a:pPr marL="342900" lvl="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 err="1"/>
              <a:t>Coverage</a:t>
            </a:r>
            <a:r>
              <a:rPr lang="ru-RU" dirty="0"/>
              <a:t> показывает, что ссылки присутствуют;</a:t>
            </a:r>
          </a:p>
          <a:p>
            <a:pPr marL="342900" lvl="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 err="1"/>
              <a:t>Trace</a:t>
            </a:r>
            <a:r>
              <a:rPr lang="ru-RU" dirty="0"/>
              <a:t> F1 показывает, что ссылки ведут к правильным объектам</a:t>
            </a:r>
          </a:p>
          <a:p>
            <a:pPr>
              <a:spcBef>
                <a:spcPts val="600"/>
              </a:spcBef>
            </a:pPr>
            <a:r>
              <a:rPr lang="ru-RU" b="1" dirty="0" err="1"/>
              <a:t>Activity</a:t>
            </a:r>
            <a:r>
              <a:rPr lang="ru-RU" b="1" dirty="0"/>
              <a:t> </a:t>
            </a:r>
            <a:r>
              <a:rPr lang="ru-RU" b="1" dirty="0" err="1"/>
              <a:t>structural</a:t>
            </a:r>
            <a:r>
              <a:rPr lang="ru-RU" b="1" dirty="0"/>
              <a:t> </a:t>
            </a:r>
            <a:r>
              <a:rPr lang="ru-RU" b="1" dirty="0" err="1"/>
              <a:t>validity</a:t>
            </a:r>
            <a:r>
              <a:rPr lang="ru-RU" b="1" dirty="0"/>
              <a:t> </a:t>
            </a:r>
            <a:r>
              <a:rPr lang="ru-RU" dirty="0"/>
              <a:t>— структура диаграммы = принятые </a:t>
            </a:r>
            <a:r>
              <a:rPr lang="ru-RU" dirty="0" err="1"/>
              <a:t>Activity</a:t>
            </a:r>
            <a:r>
              <a:rPr lang="ru-RU" dirty="0"/>
              <a:t>-модели / все сформированные </a:t>
            </a:r>
            <a:r>
              <a:rPr lang="ru-RU" dirty="0" err="1"/>
              <a:t>Activity</a:t>
            </a:r>
            <a:r>
              <a:rPr lang="ru-RU" dirty="0"/>
              <a:t>-модели</a:t>
            </a:r>
          </a:p>
          <a:p>
            <a:pPr>
              <a:spcBef>
                <a:spcPts val="600"/>
              </a:spcBef>
            </a:pPr>
            <a:r>
              <a:rPr lang="ru-RU" b="1" dirty="0" err="1"/>
              <a:t>Branch</a:t>
            </a:r>
            <a:r>
              <a:rPr lang="ru-RU" b="1" dirty="0"/>
              <a:t> </a:t>
            </a:r>
            <a:r>
              <a:rPr lang="ru-RU" b="1" dirty="0" err="1"/>
              <a:t>Recall</a:t>
            </a:r>
            <a:r>
              <a:rPr lang="ru-RU" b="1" dirty="0"/>
              <a:t> </a:t>
            </a:r>
            <a:r>
              <a:rPr lang="ru-RU" dirty="0"/>
              <a:t>— альтернативы и ошибки </a:t>
            </a:r>
            <a:r>
              <a:rPr lang="ru-RU" dirty="0" err="1"/>
              <a:t>Branch</a:t>
            </a:r>
            <a:r>
              <a:rPr lang="ru-RU" dirty="0"/>
              <a:t> </a:t>
            </a:r>
            <a:r>
              <a:rPr lang="ru-RU" dirty="0" err="1"/>
              <a:t>Recall</a:t>
            </a:r>
            <a:r>
              <a:rPr lang="ru-RU" dirty="0"/>
              <a:t> = найденные обязательные ветвления / ветвления Gold</a:t>
            </a:r>
          </a:p>
          <a:p>
            <a:pPr>
              <a:spcBef>
                <a:spcPts val="600"/>
              </a:spcBef>
            </a:pPr>
            <a:r>
              <a:rPr lang="ru-RU" b="1" dirty="0" err="1"/>
              <a:t>Milestone</a:t>
            </a:r>
            <a:r>
              <a:rPr lang="ru-RU" b="1" dirty="0"/>
              <a:t> </a:t>
            </a:r>
            <a:r>
              <a:rPr lang="ru-RU" b="1" dirty="0" err="1"/>
              <a:t>Recall</a:t>
            </a:r>
            <a:r>
              <a:rPr lang="ru-RU" b="1" dirty="0"/>
              <a:t> </a:t>
            </a:r>
            <a:r>
              <a:rPr lang="ru-RU" dirty="0"/>
              <a:t>— обязательные этапы = найденные обязательные этапы / все обязательные этапы Gold(</a:t>
            </a:r>
            <a:r>
              <a:rPr lang="ru-RU" dirty="0" err="1"/>
              <a:t>Recall</a:t>
            </a:r>
            <a:r>
              <a:rPr lang="ru-RU" dirty="0"/>
              <a:t> = 4 / 5 = 0,8)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911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FC1402B-B767-3EFA-8877-16AD1AB9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>
            <a:extLst>
              <a:ext uri="{FF2B5EF4-FFF2-40B4-BE49-F238E27FC236}">
                <a16:creationId xmlns:a16="http://schemas.microsoft.com/office/drawing/2014/main" id="{FAEEA80E-2D73-6FFE-9B86-FAFE2A9906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2581540" y="64585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30</a:t>
            </a:fld>
            <a:endParaRPr/>
          </a:p>
        </p:txBody>
      </p:sp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B7A783E8-212D-A693-A8A7-45B5C664954B}"/>
              </a:ext>
            </a:extLst>
          </p:cNvPr>
          <p:cNvSpPr txBox="1">
            <a:spLocks/>
          </p:cNvSpPr>
          <p:nvPr/>
        </p:nvSpPr>
        <p:spPr>
          <a:xfrm>
            <a:off x="528633" y="825582"/>
            <a:ext cx="6873653" cy="410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dirty="0"/>
              <a:t>1.1 Пометки Структурированное представление </a:t>
            </a:r>
            <a:r>
              <a:rPr lang="ru-RU" sz="1600" dirty="0" err="1"/>
              <a:t>Use</a:t>
            </a:r>
            <a:r>
              <a:rPr lang="ru-RU" sz="1600" dirty="0"/>
              <a:t> </a:t>
            </a:r>
            <a:r>
              <a:rPr lang="ru-RU" sz="1600" dirty="0" err="1"/>
              <a:t>Cases</a:t>
            </a:r>
            <a:r>
              <a:rPr lang="ru-RU" sz="1600" dirty="0"/>
              <a:t>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203839-93CA-E2C6-B08F-72879E0BC6CE}"/>
              </a:ext>
            </a:extLst>
          </p:cNvPr>
          <p:cNvSpPr txBox="1"/>
          <p:nvPr/>
        </p:nvSpPr>
        <p:spPr>
          <a:xfrm>
            <a:off x="528633" y="2127305"/>
            <a:ext cx="57489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F1-метрики</a:t>
            </a:r>
          </a:p>
          <a:p>
            <a:pPr>
              <a:buNone/>
            </a:pPr>
            <a:r>
              <a:rPr lang="ru-RU" dirty="0">
                <a:latin typeface="Arial"/>
              </a:rPr>
              <a:t>F1</a:t>
            </a:r>
            <a:r>
              <a:rPr lang="ru-RU" dirty="0"/>
              <a:t> объединяет: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>
                <a:latin typeface="Arial"/>
              </a:rPr>
              <a:t>Precision</a:t>
            </a:r>
            <a:r>
              <a:rPr lang="ru-RU" dirty="0"/>
              <a:t> (точность): сколько сгенерированных элементов соответствуют эталону(снижается, если появились лишние смысловые UC).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 err="1">
                <a:latin typeface="Arial"/>
              </a:rPr>
              <a:t>Recall</a:t>
            </a:r>
            <a:r>
              <a:rPr lang="ru-RU" dirty="0"/>
              <a:t> (полнота): сколько ожидаемых элементов найдено.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lvl="0"/>
            <a:r>
              <a:rPr lang="ru-RU" b="1" dirty="0"/>
              <a:t>Основные метрики проекта:</a:t>
            </a:r>
          </a:p>
          <a:p>
            <a:pPr lvl="0"/>
            <a:r>
              <a:rPr lang="ru-RU" b="1" dirty="0" err="1"/>
              <a:t>Milestone</a:t>
            </a:r>
            <a:r>
              <a:rPr lang="ru-RU" b="1" dirty="0"/>
              <a:t> F1 </a:t>
            </a:r>
            <a:r>
              <a:rPr lang="ru-RU" dirty="0"/>
              <a:t>— совпадение ключевых этапов основного сценария. Снижается, если этапы пропущены или результат излишне раздроблен на мелкие действия.</a:t>
            </a:r>
          </a:p>
          <a:p>
            <a:pPr lvl="0"/>
            <a:r>
              <a:rPr lang="ru-RU" b="1" dirty="0" err="1"/>
              <a:t>Branch</a:t>
            </a:r>
            <a:r>
              <a:rPr lang="ru-RU" b="1" dirty="0"/>
              <a:t> F1 </a:t>
            </a:r>
            <a:r>
              <a:rPr lang="ru-RU" dirty="0"/>
              <a:t>— совпадение условий и результатов альтернативных веток. Например, отказ при недействительном допуске или обработка дублирующего </a:t>
            </a:r>
            <a:r>
              <a:rPr lang="ru-RU" dirty="0" err="1"/>
              <a:t>email</a:t>
            </a:r>
            <a:r>
              <a:rPr lang="ru-RU" dirty="0"/>
              <a:t>.</a:t>
            </a:r>
          </a:p>
          <a:p>
            <a:pPr lvl="0"/>
            <a:r>
              <a:rPr lang="ru-RU" b="1" dirty="0" err="1"/>
              <a:t>Trace</a:t>
            </a:r>
            <a:r>
              <a:rPr lang="ru-RU" b="1" dirty="0"/>
              <a:t> F1 </a:t>
            </a:r>
            <a:r>
              <a:rPr lang="ru-RU" dirty="0"/>
              <a:t>— правильность связей между функциональными требованиями и UC. Пропущенная связь снижает полноту, необоснованная связь — точность.</a:t>
            </a:r>
          </a:p>
          <a:p>
            <a:pPr lvl="0"/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476CC9-BC0B-677A-86AB-3632C7F2606A}"/>
              </a:ext>
            </a:extLst>
          </p:cNvPr>
          <p:cNvSpPr txBox="1"/>
          <p:nvPr/>
        </p:nvSpPr>
        <p:spPr>
          <a:xfrm>
            <a:off x="7021286" y="1984576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согласования поведения системы;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декомпозиции разработки;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подготовки тестов;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проверки покрытия требований;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анализа последствий изменения требования.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E0E9B7-54EB-F957-5549-734A1453C5EE}"/>
              </a:ext>
            </a:extLst>
          </p:cNvPr>
          <p:cNvSpPr txBox="1"/>
          <p:nvPr/>
        </p:nvSpPr>
        <p:spPr>
          <a:xfrm>
            <a:off x="6484282" y="1236067"/>
            <a:ext cx="58294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b="1" dirty="0">
                <a:effectLst/>
                <a:latin typeface="Arial"/>
                <a:ea typeface="Times New Roman" panose="02020603050405020304" pitchFamily="18" charset="0"/>
              </a:rPr>
              <a:t>Изначальная задача </a:t>
            </a: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— не получить максимальное сходство текста с коротким эталоном. Задача — сформировать комплект артефактов, который можно использовать для: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B9F174-4601-8AE8-BF77-85DC57560BFF}"/>
              </a:ext>
            </a:extLst>
          </p:cNvPr>
          <p:cNvSpPr txBox="1"/>
          <p:nvPr/>
        </p:nvSpPr>
        <p:spPr>
          <a:xfrm>
            <a:off x="6272893" y="3290500"/>
            <a:ext cx="65586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kern="0" dirty="0">
                <a:effectLst/>
                <a:latin typeface="Arial"/>
                <a:ea typeface="Times New Roman" panose="02020603050405020304" pitchFamily="18" charset="0"/>
              </a:rPr>
              <a:t>основная бизнес-метрика</a:t>
            </a:r>
            <a:r>
              <a:rPr lang="ru-RU" sz="1400" kern="0" dirty="0">
                <a:effectLst/>
                <a:latin typeface="Arial"/>
                <a:ea typeface="Times New Roman" panose="02020603050405020304" pitchFamily="18" charset="0"/>
              </a:rPr>
              <a:t> </a:t>
            </a:r>
            <a:endParaRPr lang="ru-R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317050-AE18-4FAB-B2BA-3FFDA0A90FFC}"/>
              </a:ext>
            </a:extLst>
          </p:cNvPr>
          <p:cNvSpPr txBox="1"/>
          <p:nvPr/>
        </p:nvSpPr>
        <p:spPr>
          <a:xfrm>
            <a:off x="6272893" y="3562607"/>
            <a:ext cx="55925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ru-RU" sz="1400" dirty="0">
                <a:effectLst/>
                <a:latin typeface="Arial"/>
                <a:ea typeface="Times New Roman" panose="02020603050405020304" pitchFamily="18" charset="0"/>
              </a:rPr>
              <a:t>Доля результатов, которые эксперт может принять и использовать без ручного исправления.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44157B-8B81-BF14-EAE9-36EBA6264477}"/>
              </a:ext>
            </a:extLst>
          </p:cNvPr>
          <p:cNvSpPr txBox="1"/>
          <p:nvPr/>
        </p:nvSpPr>
        <p:spPr>
          <a:xfrm>
            <a:off x="6272893" y="4196164"/>
            <a:ext cx="50809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Дополнительная бизнес-метрика:</a:t>
            </a:r>
          </a:p>
          <a:p>
            <a:pPr>
              <a:buNone/>
            </a:pPr>
            <a:r>
              <a:rPr lang="ru-RU" dirty="0"/>
              <a:t>Сколько минут и сколько правок требуется аналитику, чтобы довести результат до принимаемого состояния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08C0C5-D295-0A13-9E62-D21E2AE1E06E}"/>
              </a:ext>
            </a:extLst>
          </p:cNvPr>
          <p:cNvSpPr txBox="1"/>
          <p:nvPr/>
        </p:nvSpPr>
        <p:spPr>
          <a:xfrm>
            <a:off x="6272893" y="5262946"/>
            <a:ext cx="6558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E2E остаётся технической метрикой: она показывает, что комплект </a:t>
            </a:r>
            <a:r>
              <a:rPr lang="ru-RU" dirty="0" err="1"/>
              <a:t>машинно</a:t>
            </a:r>
            <a:r>
              <a:rPr lang="ru-RU" dirty="0"/>
              <a:t> согласован и не содержит формальных нарушений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317DC2-4260-FDA7-6AC7-655AA1E3CEDD}"/>
              </a:ext>
            </a:extLst>
          </p:cNvPr>
          <p:cNvSpPr txBox="1"/>
          <p:nvPr/>
        </p:nvSpPr>
        <p:spPr>
          <a:xfrm>
            <a:off x="531182" y="1451661"/>
            <a:ext cx="5569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Метрики качества </a:t>
            </a:r>
            <a:r>
              <a:rPr lang="ru-RU" b="1" dirty="0" err="1"/>
              <a:t>Use</a:t>
            </a:r>
            <a:r>
              <a:rPr lang="ru-RU" b="1" dirty="0"/>
              <a:t> </a:t>
            </a:r>
            <a:r>
              <a:rPr lang="ru-RU" b="1" dirty="0" err="1"/>
              <a:t>Cases</a:t>
            </a:r>
            <a:r>
              <a:rPr lang="ru-RU" b="1" dirty="0"/>
              <a:t>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12834D-D438-0539-671A-EBD6B7322C8D}"/>
              </a:ext>
            </a:extLst>
          </p:cNvPr>
          <p:cNvSpPr txBox="1"/>
          <p:nvPr/>
        </p:nvSpPr>
        <p:spPr>
          <a:xfrm>
            <a:off x="528633" y="1248840"/>
            <a:ext cx="6558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/>
              <a:t>Описание, участники, запуск, сценарии, результаты, истории, связи, неопределённости</a:t>
            </a:r>
          </a:p>
        </p:txBody>
      </p:sp>
      <p:sp>
        <p:nvSpPr>
          <p:cNvPr id="3" name="Google Shape;127;p12">
            <a:extLst>
              <a:ext uri="{FF2B5EF4-FFF2-40B4-BE49-F238E27FC236}">
                <a16:creationId xmlns:a16="http://schemas.microsoft.com/office/drawing/2014/main" id="{B7C36050-84CE-3FEE-3C62-CE9867D9DE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Дополнительно: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90833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4E29D9E4-DC89-8B52-6E52-78FD2D894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>
            <a:extLst>
              <a:ext uri="{FF2B5EF4-FFF2-40B4-BE49-F238E27FC236}">
                <a16:creationId xmlns:a16="http://schemas.microsoft.com/office/drawing/2014/main" id="{770F7C53-CB57-F9C1-8B2C-9B57917D81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31</a:t>
            </a:fld>
            <a:endParaRPr/>
          </a:p>
        </p:txBody>
      </p:sp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1E1BD93B-7678-EE66-68F2-2375B481D68A}"/>
              </a:ext>
            </a:extLst>
          </p:cNvPr>
          <p:cNvSpPr txBox="1">
            <a:spLocks/>
          </p:cNvSpPr>
          <p:nvPr/>
        </p:nvSpPr>
        <p:spPr>
          <a:xfrm>
            <a:off x="421531" y="652072"/>
            <a:ext cx="803859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dirty="0"/>
              <a:t>Общий принцип работы каждого агента: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65A50E4-3C76-D1CB-82D4-959BD6B0E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261" y="4989461"/>
            <a:ext cx="7772400" cy="106576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2A3475A-1007-ED2F-3E91-9456AF4D1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261" y="1335658"/>
            <a:ext cx="7772400" cy="2754050"/>
          </a:xfrm>
          <a:prstGeom prst="rect">
            <a:avLst/>
          </a:prstGeom>
        </p:spPr>
      </p:pic>
      <p:sp>
        <p:nvSpPr>
          <p:cNvPr id="2" name="Google Shape;127;p12">
            <a:extLst>
              <a:ext uri="{FF2B5EF4-FFF2-40B4-BE49-F238E27FC236}">
                <a16:creationId xmlns:a16="http://schemas.microsoft.com/office/drawing/2014/main" id="{BDE31768-DC7C-5585-6721-89FEF7F40E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Дополнительно: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39207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B62EF70-660E-7CA6-A87E-B5C108B6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>
            <a:extLst>
              <a:ext uri="{FF2B5EF4-FFF2-40B4-BE49-F238E27FC236}">
                <a16:creationId xmlns:a16="http://schemas.microsoft.com/office/drawing/2014/main" id="{7E7988C6-81DD-ED11-5A76-86C18B854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32</a:t>
            </a:fld>
            <a:endParaRPr/>
          </a:p>
        </p:txBody>
      </p:sp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CEC7E54B-A29A-8066-10F1-B446E68A9388}"/>
              </a:ext>
            </a:extLst>
          </p:cNvPr>
          <p:cNvSpPr txBox="1">
            <a:spLocks/>
          </p:cNvSpPr>
          <p:nvPr/>
        </p:nvSpPr>
        <p:spPr>
          <a:xfrm>
            <a:off x="528634" y="1219055"/>
            <a:ext cx="2418002" cy="410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dirty="0"/>
              <a:t>Проверка: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35DC7F-1E27-562F-2B77-181E4549A462}"/>
              </a:ext>
            </a:extLst>
          </p:cNvPr>
          <p:cNvSpPr txBox="1"/>
          <p:nvPr/>
        </p:nvSpPr>
        <p:spPr>
          <a:xfrm>
            <a:off x="6272892" y="1841409"/>
            <a:ext cx="5166703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400"/>
              </a:spcBef>
              <a:buFont typeface="+mj-lt"/>
              <a:buAutoNum type="arabicPeriod"/>
            </a:pPr>
            <a:r>
              <a:rPr lang="ru-RU" b="1" dirty="0" err="1"/>
              <a:t>fr_coverage</a:t>
            </a:r>
            <a:r>
              <a:rPr lang="ru-RU" b="1" dirty="0"/>
              <a:t> </a:t>
            </a:r>
            <a:r>
              <a:rPr lang="ru-RU" dirty="0"/>
              <a:t>— все ли ФТ назначены хотя бы одному UC;</a:t>
            </a:r>
          </a:p>
          <a:p>
            <a:pPr marL="342900" lvl="0" indent="-342900">
              <a:spcBef>
                <a:spcPts val="400"/>
              </a:spcBef>
              <a:buFont typeface="+mj-lt"/>
              <a:buAutoNum type="arabicPeriod"/>
            </a:pPr>
            <a:r>
              <a:rPr lang="ru-RU" b="1" dirty="0" err="1"/>
              <a:t>trace_completeness</a:t>
            </a:r>
            <a:r>
              <a:rPr lang="ru-RU" b="1" dirty="0"/>
              <a:t> </a:t>
            </a:r>
            <a:r>
              <a:rPr lang="ru-RU" dirty="0"/>
              <a:t>— материализована ли связь каждого ФТ с UC;</a:t>
            </a:r>
          </a:p>
          <a:p>
            <a:pPr marL="342900" lvl="0" indent="-342900">
              <a:spcBef>
                <a:spcPts val="400"/>
              </a:spcBef>
              <a:buFont typeface="+mj-lt"/>
              <a:buAutoNum type="arabicPeriod"/>
            </a:pPr>
            <a:r>
              <a:rPr lang="ru-RU" b="1" dirty="0" err="1"/>
              <a:t>uc_element_trace_coverage</a:t>
            </a:r>
            <a:r>
              <a:rPr lang="ru-RU" b="1" dirty="0"/>
              <a:t> </a:t>
            </a:r>
            <a:r>
              <a:rPr lang="ru-RU" dirty="0"/>
              <a:t>— имеют ли происхождение UC, </a:t>
            </a:r>
            <a:r>
              <a:rPr lang="ru-RU" dirty="0" err="1"/>
              <a:t>stories</a:t>
            </a:r>
            <a:r>
              <a:rPr lang="ru-RU" dirty="0"/>
              <a:t> и </a:t>
            </a:r>
            <a:r>
              <a:rPr lang="ru-RU" dirty="0" err="1"/>
              <a:t>steps</a:t>
            </a:r>
            <a:r>
              <a:rPr lang="ru-RU" dirty="0"/>
              <a:t>;</a:t>
            </a:r>
          </a:p>
          <a:p>
            <a:pPr marL="342900" lvl="0" indent="-342900">
              <a:spcBef>
                <a:spcPts val="400"/>
              </a:spcBef>
              <a:buFont typeface="+mj-lt"/>
              <a:buAutoNum type="arabicPeriod"/>
            </a:pPr>
            <a:r>
              <a:rPr lang="ru-RU" b="1" dirty="0" err="1"/>
              <a:t>Milestone</a:t>
            </a:r>
            <a:r>
              <a:rPr lang="ru-RU" b="1" dirty="0"/>
              <a:t> </a:t>
            </a:r>
            <a:r>
              <a:rPr lang="ru-RU" b="1" dirty="0" err="1"/>
              <a:t>recall</a:t>
            </a:r>
            <a:r>
              <a:rPr lang="ru-RU" b="1" dirty="0"/>
              <a:t> </a:t>
            </a:r>
            <a:r>
              <a:rPr lang="ru-RU" dirty="0"/>
              <a:t>— представлены ли обязательные этапы;</a:t>
            </a:r>
          </a:p>
          <a:p>
            <a:pPr marL="342900" lvl="0" indent="-342900">
              <a:spcBef>
                <a:spcPts val="400"/>
              </a:spcBef>
              <a:buFont typeface="+mj-lt"/>
              <a:buAutoNum type="arabicPeriod"/>
            </a:pPr>
            <a:r>
              <a:rPr lang="ru-RU" b="1" dirty="0" err="1"/>
              <a:t>Branch</a:t>
            </a:r>
            <a:r>
              <a:rPr lang="ru-RU" b="1" dirty="0"/>
              <a:t> </a:t>
            </a:r>
            <a:r>
              <a:rPr lang="ru-RU" b="1" dirty="0" err="1"/>
              <a:t>recall</a:t>
            </a:r>
            <a:r>
              <a:rPr lang="ru-RU" b="1" dirty="0"/>
              <a:t> </a:t>
            </a:r>
            <a:r>
              <a:rPr lang="ru-RU" dirty="0"/>
              <a:t>— представлены ли обязательные альтернативы и ошибки.</a:t>
            </a:r>
          </a:p>
          <a:p>
            <a:pPr lvl="0"/>
            <a:endParaRPr lang="ru-RU" dirty="0"/>
          </a:p>
          <a:p>
            <a:r>
              <a:rPr lang="ru-RU" b="1" dirty="0"/>
              <a:t>Бизнес-смысл</a:t>
            </a:r>
            <a:r>
              <a:rPr lang="ru-RU" dirty="0"/>
              <a:t>: ни одно требование и ни один важный отрицательный сценарий не должны потеряться.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EC825B-53B9-8937-777C-1530D291DCF1}"/>
              </a:ext>
            </a:extLst>
          </p:cNvPr>
          <p:cNvSpPr txBox="1"/>
          <p:nvPr/>
        </p:nvSpPr>
        <p:spPr>
          <a:xfrm>
            <a:off x="528634" y="3390551"/>
            <a:ext cx="5166704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None/>
            </a:pPr>
            <a:r>
              <a:rPr lang="ru-RU" dirty="0"/>
              <a:t>LLM-критик дополнительно ищет:</a:t>
            </a:r>
          </a:p>
          <a:p>
            <a:pPr marL="342900" lvl="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dirty="0"/>
              <a:t>пропущенное ФТ;</a:t>
            </a:r>
          </a:p>
          <a:p>
            <a:pPr marL="342900" lvl="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dirty="0"/>
              <a:t>противоречие ФТ;</a:t>
            </a:r>
          </a:p>
          <a:p>
            <a:pPr marL="342900" lvl="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dirty="0"/>
              <a:t>придуманное бизнес-правило;</a:t>
            </a:r>
          </a:p>
          <a:p>
            <a:pPr marL="342900" lvl="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dirty="0"/>
              <a:t>пропущенный результат сценария;</a:t>
            </a:r>
          </a:p>
          <a:p>
            <a:pPr marL="342900" lvl="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dirty="0"/>
              <a:t>противоречие ответственности актора.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C066F-E1ED-05E1-94E2-55A0536BC448}"/>
              </a:ext>
            </a:extLst>
          </p:cNvPr>
          <p:cNvSpPr txBox="1"/>
          <p:nvPr/>
        </p:nvSpPr>
        <p:spPr>
          <a:xfrm>
            <a:off x="536187" y="1533632"/>
            <a:ext cx="525168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None/>
            </a:pPr>
            <a:r>
              <a:rPr lang="ru-RU" b="1" dirty="0"/>
              <a:t>1 Отсутствие галлюцинаций</a:t>
            </a:r>
          </a:p>
          <a:p>
            <a:pPr>
              <a:spcBef>
                <a:spcPts val="400"/>
              </a:spcBef>
              <a:buNone/>
            </a:pPr>
            <a:r>
              <a:rPr lang="ru-RU" dirty="0" err="1"/>
              <a:t>Детерминированно</a:t>
            </a:r>
            <a:r>
              <a:rPr lang="ru-RU" dirty="0"/>
              <a:t> проверяются:</a:t>
            </a:r>
          </a:p>
          <a:p>
            <a:pPr marL="342900" lvl="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dirty="0"/>
              <a:t>ссылки на несуществующие FR;</a:t>
            </a:r>
          </a:p>
          <a:p>
            <a:pPr marL="342900" lvl="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dirty="0"/>
              <a:t>неизвестные акторы;</a:t>
            </a:r>
          </a:p>
          <a:p>
            <a:pPr marL="342900" lvl="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dirty="0"/>
              <a:t>неизвестные шаги;</a:t>
            </a:r>
          </a:p>
          <a:p>
            <a:pPr marL="342900" lvl="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ru-RU" dirty="0"/>
              <a:t>шаги, ссылающиеся на требования вне своего UC;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EE11CE-C84A-874C-267D-EC529827706E}"/>
              </a:ext>
            </a:extLst>
          </p:cNvPr>
          <p:cNvSpPr txBox="1"/>
          <p:nvPr/>
        </p:nvSpPr>
        <p:spPr>
          <a:xfrm>
            <a:off x="536187" y="5164836"/>
            <a:ext cx="49816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Но окончательно назвать элемент галлюцинацией можно только после </a:t>
            </a:r>
            <a:r>
              <a:rPr lang="ru-RU" dirty="0" err="1"/>
              <a:t>gold</a:t>
            </a:r>
            <a:r>
              <a:rPr lang="ru-RU" dirty="0"/>
              <a:t>- или экспертной проверки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85408-F6C0-5295-2BB9-F24081B8ED91}"/>
              </a:ext>
            </a:extLst>
          </p:cNvPr>
          <p:cNvSpPr txBox="1"/>
          <p:nvPr/>
        </p:nvSpPr>
        <p:spPr>
          <a:xfrm>
            <a:off x="6272892" y="1533632"/>
            <a:ext cx="65586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2 Полнота</a:t>
            </a:r>
          </a:p>
        </p:txBody>
      </p:sp>
      <p:sp>
        <p:nvSpPr>
          <p:cNvPr id="4" name="Google Shape;127;p12">
            <a:extLst>
              <a:ext uri="{FF2B5EF4-FFF2-40B4-BE49-F238E27FC236}">
                <a16:creationId xmlns:a16="http://schemas.microsoft.com/office/drawing/2014/main" id="{8786644D-5188-5F4B-DC52-36E9E615B1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Дополнительно: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21304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889560F-93D2-39B3-121C-6DA18CEA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>
            <a:extLst>
              <a:ext uri="{FF2B5EF4-FFF2-40B4-BE49-F238E27FC236}">
                <a16:creationId xmlns:a16="http://schemas.microsoft.com/office/drawing/2014/main" id="{6AA2E1AC-9F22-8C49-55C1-2D8FE17C72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E0807-EB0B-2FE9-FF74-C7340A9C64A2}"/>
              </a:ext>
            </a:extLst>
          </p:cNvPr>
          <p:cNvSpPr txBox="1"/>
          <p:nvPr/>
        </p:nvSpPr>
        <p:spPr>
          <a:xfrm>
            <a:off x="421532" y="1234070"/>
            <a:ext cx="437760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/>
              <a:t>3. Формирование </a:t>
            </a:r>
            <a:r>
              <a:rPr lang="ru-RU" sz="1600" b="1" dirty="0" err="1"/>
              <a:t>Mermaid</a:t>
            </a:r>
            <a:r>
              <a:rPr lang="ru-RU" sz="1600" b="1" dirty="0"/>
              <a:t>:</a:t>
            </a:r>
            <a:endParaRPr lang="ru-RU" sz="1600" dirty="0"/>
          </a:p>
          <a:p>
            <a:pPr>
              <a:buNone/>
            </a:pPr>
            <a:r>
              <a:rPr lang="ru-RU" dirty="0"/>
              <a:t>LLM создаёт структуру </a:t>
            </a:r>
            <a:r>
              <a:rPr lang="ru-RU" dirty="0" err="1">
                <a:latin typeface="Arial"/>
              </a:rPr>
              <a:t>ActivityDiagram</a:t>
            </a:r>
            <a:r>
              <a:rPr lang="ru-RU" dirty="0"/>
              <a:t>. После её принятия Python выполняет: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Упорядочивание:</a:t>
            </a:r>
            <a:r>
              <a:rPr lang="ru-RU" dirty="0"/>
              <a:t> сортирует дорожки, узлы и ребра по ID.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Оформление:</a:t>
            </a:r>
            <a:r>
              <a:rPr lang="ru-RU" dirty="0"/>
              <a:t> превращает дорожки в группы, выбирает форму каждого узла по его типу.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Переходы:</a:t>
            </a:r>
            <a:r>
              <a:rPr lang="ru-RU" dirty="0"/>
              <a:t> создаёт стрелки и подписывает условия ветвления.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Обработку текста:</a:t>
            </a:r>
            <a:r>
              <a:rPr lang="ru-RU" dirty="0"/>
              <a:t> экранирует специальные символы.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5DF8F-80E9-E705-5F9E-FA75EBC9C5CA}"/>
              </a:ext>
            </a:extLst>
          </p:cNvPr>
          <p:cNvSpPr txBox="1"/>
          <p:nvPr/>
        </p:nvSpPr>
        <p:spPr>
          <a:xfrm>
            <a:off x="6243145" y="1541847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Маршрут:</a:t>
            </a:r>
            <a:r>
              <a:rPr lang="ru-RU" dirty="0"/>
              <a:t> входное ФТ → FR-ID → </a:t>
            </a:r>
            <a:r>
              <a:rPr lang="ru-RU" dirty="0" err="1"/>
              <a:t>Use</a:t>
            </a:r>
            <a:r>
              <a:rPr lang="ru-RU" dirty="0"/>
              <a:t> Case → шаг сценария.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Происхождение:</a:t>
            </a:r>
            <a:r>
              <a:rPr lang="ru-RU" dirty="0"/>
              <a:t> </a:t>
            </a:r>
            <a:r>
              <a:rPr lang="ru-RU" dirty="0" err="1"/>
              <a:t>Use</a:t>
            </a:r>
            <a:r>
              <a:rPr lang="ru-RU" dirty="0"/>
              <a:t> Case и каждый шаг хранят ссылки на исходные требования.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Истории:</a:t>
            </a:r>
            <a:r>
              <a:rPr lang="ru-RU" dirty="0"/>
              <a:t> потребности пользователя и обязанности системы связаны со своим </a:t>
            </a:r>
            <a:r>
              <a:rPr lang="ru-RU" dirty="0" err="1"/>
              <a:t>Use</a:t>
            </a:r>
            <a:r>
              <a:rPr lang="ru-RU" dirty="0"/>
              <a:t> Case.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Построение связей:</a:t>
            </a:r>
            <a:r>
              <a:rPr lang="ru-RU" dirty="0"/>
              <a:t> Python связывает требования с UC и шагами, UC с историями, учитывает отдельные части требований.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b="1" dirty="0"/>
              <a:t>Проверка:</a:t>
            </a:r>
            <a:r>
              <a:rPr lang="ru-RU" dirty="0"/>
              <a:t> согласованность связей в обе стороны и отсутствие ссылок на несуществующие элементы. </a:t>
            </a:r>
          </a:p>
          <a:p>
            <a:pPr>
              <a:buNone/>
            </a:pPr>
            <a:r>
              <a:rPr lang="ru-RU" b="1" dirty="0"/>
              <a:t>Пример:</a:t>
            </a:r>
            <a:br>
              <a:rPr lang="ru-RU" dirty="0"/>
            </a:br>
            <a:r>
              <a:rPr lang="ru-RU" dirty="0"/>
              <a:t>FR-003 «Не допустить повторную регистрацию» → UC-002 «Зарегистрироваться» → проверка уникальности </a:t>
            </a:r>
            <a:r>
              <a:rPr lang="ru-RU" dirty="0" err="1"/>
              <a:t>email</a:t>
            </a:r>
            <a:r>
              <a:rPr lang="ru-RU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B0B43-491E-43D0-CA38-C614D72EAD49}"/>
              </a:ext>
            </a:extLst>
          </p:cNvPr>
          <p:cNvSpPr txBox="1"/>
          <p:nvPr/>
        </p:nvSpPr>
        <p:spPr>
          <a:xfrm>
            <a:off x="6096000" y="123407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4. Трассировка UC к входным требованиям</a:t>
            </a:r>
          </a:p>
        </p:txBody>
      </p:sp>
      <p:sp>
        <p:nvSpPr>
          <p:cNvPr id="7" name="Google Shape;127;p12">
            <a:extLst>
              <a:ext uri="{FF2B5EF4-FFF2-40B4-BE49-F238E27FC236}">
                <a16:creationId xmlns:a16="http://schemas.microsoft.com/office/drawing/2014/main" id="{E31D6E49-7C1A-C37D-5B5A-38802106E8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/>
              <a:t>Дополнительно: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396402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E751269-75A3-4DB1-FD43-66EF7CEA4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DF07257-1D7E-ECE9-B9C7-F8BDA079A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94" y="183911"/>
            <a:ext cx="8060513" cy="656278"/>
          </a:xfrm>
        </p:spPr>
        <p:txBody>
          <a:bodyPr>
            <a:normAutofit/>
          </a:bodyPr>
          <a:lstStyle/>
          <a:p>
            <a:r>
              <a:rPr lang="ru-RU" sz="1600" dirty="0"/>
              <a:t>Эксперимент – </a:t>
            </a:r>
            <a:r>
              <a:rPr lang="ru-RU" sz="1600" dirty="0" err="1"/>
              <a:t>такблички</a:t>
            </a:r>
            <a:r>
              <a:rPr lang="ru-RU" sz="1600" dirty="0"/>
              <a:t> графики, собственное описание данных, какими проектами работаем… как размечена год выборка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CD9D0-5049-674C-D091-C3A92487B048}"/>
              </a:ext>
            </a:extLst>
          </p:cNvPr>
          <p:cNvSpPr txBox="1"/>
          <p:nvPr/>
        </p:nvSpPr>
        <p:spPr>
          <a:xfrm>
            <a:off x="684094" y="840189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effectLst/>
                <a:latin typeface="Arial"/>
              </a:rPr>
              <a:t>в качестве </a:t>
            </a:r>
            <a:r>
              <a:rPr lang="ru-RU" sz="1400" dirty="0" err="1">
                <a:solidFill>
                  <a:srgbClr val="000000"/>
                </a:solidFill>
                <a:effectLst/>
                <a:latin typeface="Arial"/>
              </a:rPr>
              <a:t>бейзлайна</a:t>
            </a:r>
            <a:r>
              <a:rPr lang="ru-RU" sz="1400" dirty="0">
                <a:solidFill>
                  <a:srgbClr val="000000"/>
                </a:solidFill>
                <a:effectLst/>
                <a:latin typeface="Arial"/>
              </a:rPr>
              <a:t> для сравнения реализации используется </a:t>
            </a:r>
            <a:r>
              <a:rPr lang="ru-RU" dirty="0" err="1"/>
              <a:t>Pyreverse</a:t>
            </a:r>
            <a:r>
              <a:rPr lang="ru-RU" dirty="0"/>
              <a:t> обычный Python-код - </a:t>
            </a:r>
            <a:r>
              <a:rPr lang="ru-RU" sz="1400" dirty="0">
                <a:solidFill>
                  <a:srgbClr val="000000"/>
                </a:solidFill>
                <a:effectLst/>
                <a:latin typeface="Arial"/>
              </a:rPr>
              <a:t>детерминированный инструмент, чтобы наглядно показать преимущества и необходимость использования именно 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LLM</a:t>
            </a:r>
            <a:endParaRPr lang="ru-RU" sz="1400" dirty="0">
              <a:solidFill>
                <a:srgbClr val="000000"/>
              </a:solidFill>
              <a:effectLst/>
              <a:latin typeface="Arial"/>
            </a:endParaRPr>
          </a:p>
          <a:p>
            <a:pPr marL="0" marR="0">
              <a:buNone/>
            </a:pPr>
            <a:br>
              <a:rPr lang="ru-RU" sz="1400" dirty="0">
                <a:solidFill>
                  <a:srgbClr val="000000"/>
                </a:solidFill>
                <a:effectLst/>
                <a:latin typeface="Arial"/>
              </a:rPr>
            </a:br>
            <a:endParaRPr lang="ru-RU" sz="1400" dirty="0">
              <a:solidFill>
                <a:srgbClr val="000000"/>
              </a:solidFill>
              <a:effectLst/>
              <a:latin typeface="Arial"/>
            </a:endParaRPr>
          </a:p>
          <a:p>
            <a:pPr marL="0" marR="0">
              <a:buNone/>
            </a:pPr>
            <a:r>
              <a:rPr lang="ru-RU" sz="1400" dirty="0">
                <a:solidFill>
                  <a:srgbClr val="000000"/>
                </a:solidFill>
                <a:effectLst/>
                <a:latin typeface="Arial"/>
              </a:rPr>
              <a:t>А защитой относительно: почему просто не скормить </a:t>
            </a:r>
            <a:r>
              <a:rPr lang="ru-RU" sz="1400" dirty="0" err="1">
                <a:solidFill>
                  <a:srgbClr val="000000"/>
                </a:solidFill>
                <a:effectLst/>
                <a:latin typeface="Arial"/>
              </a:rPr>
              <a:t>гпт</a:t>
            </a:r>
            <a:r>
              <a:rPr lang="ru-RU" sz="1400" dirty="0">
                <a:solidFill>
                  <a:srgbClr val="000000"/>
                </a:solidFill>
                <a:effectLst/>
                <a:latin typeface="Arial"/>
              </a:rPr>
              <a:t> один </a:t>
            </a:r>
            <a:r>
              <a:rPr lang="ru-RU" sz="1400" dirty="0" err="1">
                <a:solidFill>
                  <a:srgbClr val="000000"/>
                </a:solidFill>
                <a:effectLst/>
                <a:latin typeface="Arial"/>
              </a:rPr>
              <a:t>промпт</a:t>
            </a:r>
            <a:r>
              <a:rPr lang="ru-RU" sz="1400" dirty="0">
                <a:solidFill>
                  <a:srgbClr val="000000"/>
                </a:solidFill>
                <a:effectLst/>
                <a:latin typeface="Arial"/>
              </a:rPr>
              <a:t> становится как раз сравнение с таким способом генерации</a:t>
            </a:r>
            <a:endParaRPr lang="ru-RU" sz="975" dirty="0">
              <a:solidFill>
                <a:srgbClr val="FFFFFF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1B3C6-BA40-6D47-72EC-E895E8CD56A7}"/>
              </a:ext>
            </a:extLst>
          </p:cNvPr>
          <p:cNvSpPr txBox="1"/>
          <p:nvPr/>
        </p:nvSpPr>
        <p:spPr>
          <a:xfrm>
            <a:off x="684094" y="2656071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не определяет бизнес-акторов;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не выделяет пользовательские цели;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не создаёт основной, альтернативный и ошибочный сценарии;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не строит </a:t>
            </a:r>
            <a:r>
              <a:rPr lang="ru-RU" dirty="0" err="1"/>
              <a:t>Activity</a:t>
            </a:r>
            <a:r>
              <a:rPr lang="ru-RU" dirty="0"/>
              <a:t> </a:t>
            </a:r>
            <a:r>
              <a:rPr lang="ru-RU" dirty="0" err="1"/>
              <a:t>Diagram</a:t>
            </a:r>
            <a:r>
              <a:rPr lang="ru-RU" dirty="0"/>
              <a:t> из требований;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не показывает покрытие FR/NFR;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dirty="0"/>
              <a:t>не обеспечивает цепочку </a:t>
            </a:r>
            <a:r>
              <a:rPr lang="ru-RU" dirty="0">
                <a:latin typeface="Arial"/>
              </a:rPr>
              <a:t>требование → UC → шаг → элемент </a:t>
            </a:r>
            <a:r>
              <a:rPr lang="ru-RU" dirty="0" err="1">
                <a:latin typeface="Arial"/>
              </a:rPr>
              <a:t>Activity</a:t>
            </a:r>
            <a:r>
              <a:rPr lang="ru-RU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22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3169</TotalTime>
  <Words>3084</Words>
  <Application>Microsoft Macintosh PowerPoint</Application>
  <PresentationFormat>Широкоэкранный</PresentationFormat>
  <Paragraphs>358</Paragraphs>
  <Slides>34</Slides>
  <Notes>34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6" baseType="lpstr">
      <vt:lpstr>Helvetica</vt:lpstr>
      <vt:lpstr>Calibri</vt:lpstr>
      <vt:lpstr>Symbol</vt:lpstr>
      <vt:lpstr>Aptos</vt:lpstr>
      <vt:lpstr>Times New Roman</vt:lpstr>
      <vt:lpstr>Courier New</vt:lpstr>
      <vt:lpstr>Golos Text</vt:lpstr>
      <vt:lpstr>Golos Text SemiBold</vt:lpstr>
      <vt:lpstr>Arial</vt:lpstr>
      <vt:lpstr>Helvetica Neue</vt:lpstr>
      <vt:lpstr>Montserrat</vt:lpstr>
      <vt:lpstr>Тема Office</vt:lpstr>
      <vt:lpstr>Трассируемый агентный пайплайн генерации Use Cases и Activity-диаграмм по функциональным и нефункциональным требованиям </vt:lpstr>
      <vt:lpstr>Постановка проблемы</vt:lpstr>
      <vt:lpstr>Цель и задачи</vt:lpstr>
      <vt:lpstr>Обзор аналогичных решений/исследований</vt:lpstr>
      <vt:lpstr>Обзор аналогичных решений</vt:lpstr>
      <vt:lpstr>Обзор аналогичных решений</vt:lpstr>
      <vt:lpstr>Обзор аналогичных решений</vt:lpstr>
      <vt:lpstr>Методы и инструменты исследования</vt:lpstr>
      <vt:lpstr>Технологическая новизна</vt:lpstr>
      <vt:lpstr>Ход решения: Технический уровень реализации</vt:lpstr>
      <vt:lpstr>Агент 1: Use Case</vt:lpstr>
      <vt:lpstr>Агент 2: из Use Case в Activity Diagram</vt:lpstr>
      <vt:lpstr>Трассировка и Mermaid</vt:lpstr>
      <vt:lpstr>Benchmark и gold-разметка</vt:lpstr>
      <vt:lpstr>Метрики качества и их бизнес-смысл</vt:lpstr>
      <vt:lpstr>Один вызов, без исправления, без критика и FULL</vt:lpstr>
      <vt:lpstr>Результат: проверяемый этап устойчивее к росту входа</vt:lpstr>
      <vt:lpstr>Насколько полученный результат соответствует эталонной Gold-разметке?</vt:lpstr>
      <vt:lpstr>Полный граф против одношаговой LLM</vt:lpstr>
      <vt:lpstr>DeepSeek, GPT-5.5 и Claude Opus 5</vt:lpstr>
      <vt:lpstr>Ожидаемые результаты продолжения проекта</vt:lpstr>
      <vt:lpstr>Заключение </vt:lpstr>
      <vt:lpstr>Список источников</vt:lpstr>
      <vt:lpstr>Презентация PowerPoint</vt:lpstr>
      <vt:lpstr>Дополнительно:</vt:lpstr>
      <vt:lpstr>Дополнительно:</vt:lpstr>
      <vt:lpstr>Дополнительно:</vt:lpstr>
      <vt:lpstr>Дополнительно:</vt:lpstr>
      <vt:lpstr>Дополнительно (формулы):</vt:lpstr>
      <vt:lpstr>Дополнительно:</vt:lpstr>
      <vt:lpstr>Дополнительно:</vt:lpstr>
      <vt:lpstr>Дополнительно:</vt:lpstr>
      <vt:lpstr>Дополнительно:</vt:lpstr>
      <vt:lpstr>Эксперимент – такблички графики, собственное описание данных, какими проектами работаем… как размечена год выборка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Цветкова Екатерина Андреевна</dc:creator>
  <cp:lastModifiedBy>Боцман Артем Евгеньевич</cp:lastModifiedBy>
  <cp:revision>18</cp:revision>
  <dcterms:created xsi:type="dcterms:W3CDTF">2025-10-08T10:34:53Z</dcterms:created>
  <dcterms:modified xsi:type="dcterms:W3CDTF">2026-09-16T18:57:40Z</dcterms:modified>
</cp:coreProperties>
</file>